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LCC Breakdown per 1,000 Containers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PLA (€)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Material</c:v>
                </c:pt>
                <c:pt idx="1">
                  <c:v>Energy</c:v>
                </c:pt>
                <c:pt idx="2">
                  <c:v>Labour</c:v>
                </c:pt>
                <c:pt idx="3">
                  <c:v>Machine Dep.</c:v>
                </c:pt>
                <c:pt idx="4">
                  <c:v>Tooling</c:v>
                </c:pt>
                <c:pt idx="5">
                  <c:v>Waste</c:v>
                </c:pt>
                <c:pt idx="6">
                  <c:v>Total LCC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39.6</c:v>
                </c:pt>
                <c:pt idx="1">
                  <c:v>6.5</c:v>
                </c:pt>
                <c:pt idx="2">
                  <c:v>12</c:v>
                </c:pt>
                <c:pt idx="3">
                  <c:v>4</c:v>
                </c:pt>
                <c:pt idx="4">
                  <c:v>3</c:v>
                </c:pt>
                <c:pt idx="5">
                  <c:v>1.2</c:v>
                </c:pt>
                <c:pt idx="6">
                  <c:v>66.3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PPE (€)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Material</c:v>
                </c:pt>
                <c:pt idx="1">
                  <c:v>Energy</c:v>
                </c:pt>
                <c:pt idx="2">
                  <c:v>Labour</c:v>
                </c:pt>
                <c:pt idx="3">
                  <c:v>Machine Dep.</c:v>
                </c:pt>
                <c:pt idx="4">
                  <c:v>Tooling</c:v>
                </c:pt>
                <c:pt idx="5">
                  <c:v>Waste</c:v>
                </c:pt>
                <c:pt idx="6">
                  <c:v>Total LCC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22.4</c:v>
                </c:pt>
                <c:pt idx="1">
                  <c:v>8.2</c:v>
                </c:pt>
                <c:pt idx="2">
                  <c:v>12</c:v>
                </c:pt>
                <c:pt idx="3">
                  <c:v>6</c:v>
                </c:pt>
                <c:pt idx="4">
                  <c:v>5</c:v>
                </c:pt>
                <c:pt idx="5">
                  <c:v>0.8</c:v>
                </c:pt>
                <c:pt idx="6">
                  <c:v>54.4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LCA Impact Comparison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PLA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GWP (kg CO2-eq)</c:v>
                </c:pt>
                <c:pt idx="1">
                  <c:v>Energy Demand (MJ)</c:v>
                </c:pt>
                <c:pt idx="2">
                  <c:v>Water Use (L)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28</c:v>
                </c:pt>
                <c:pt idx="1">
                  <c:v>420</c:v>
                </c:pt>
                <c:pt idx="2">
                  <c:v>180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PPE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GWP (kg CO2-eq)</c:v>
                </c:pt>
                <c:pt idx="1">
                  <c:v>Energy Demand (MJ)</c:v>
                </c:pt>
                <c:pt idx="2">
                  <c:v>Water Use (L)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34</c:v>
                </c:pt>
                <c:pt idx="1">
                  <c:v>510</c:v>
                </c:pt>
                <c:pt idx="2">
                  <c:v>60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Conventional Plastics (PP, PET)</c:v>
                </c:pt>
                <c:pt idx="1">
                  <c:v>Paper &amp; Cardboard</c:v>
                </c:pt>
                <c:pt idx="2">
                  <c:v>Bioplastics (PLA, etc.)</c:v>
                </c:pt>
                <c:pt idx="3">
                  <c:v>Other Alternatives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68</c:v>
                </c:pt>
                <c:pt idx="1">
                  <c:v>18</c:v>
                </c:pt>
                <c:pt idx="2">
                  <c:v>7</c:v>
                </c:pt>
                <c:pt idx="3">
                  <c:v>7</c:v>
                </c:pt>
              </c:numCache>
            </c:numRef>
          </c:val>
        </c:ser>
        <c:dLbls>
          <c:numFmt formatCode="0%" sourceLinked="0"/>
          <c:showLegendKey val="0"/>
          <c:showVal val="0"/>
          <c:showCatName val="0"/>
          <c:showSerName val="0"/>
          <c:showPercent val="1"/>
          <c:showBubbleSize val="0"/>
          <c:showLeaderLines val="1"/>
        </c:dLbls>
      </c:pieChart>
    </c:plotArea>
    <c:legend>
      <c:legendPos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dPt>
            <c:idx val="0"/>
            <c:spPr>
              <a:solidFill>
                <a:srgbClr val="2674BA"/>
              </a:solidFill>
            </c:spPr>
          </c:dPt>
          <c:dPt>
            <c:idx val="1"/>
            <c:spPr>
              <a:solidFill>
                <a:srgbClr val="68A655"/>
              </a:solidFill>
            </c:spPr>
          </c:dPt>
          <c:dPt>
            <c:idx val="2"/>
            <c:spPr>
              <a:solidFill>
                <a:srgbClr val="F59E0B"/>
              </a:solidFill>
            </c:spPr>
          </c:dPt>
          <c:dPt>
            <c:idx val="3"/>
            <c:spPr>
              <a:solidFill>
                <a:srgbClr val="7C3AED"/>
              </a:solidFill>
            </c:spPr>
          </c:dPt>
          <c:cat>
            <c:strRef>
              <c:f>Sheet1!$A$2:$A$5</c:f>
              <c:strCache>
                <c:ptCount val="4"/>
                <c:pt idx="0">
                  <c:v>Conventional Plastics (PP, PET)</c:v>
                </c:pt>
                <c:pt idx="1">
                  <c:v>Paper &amp; Cardboard</c:v>
                </c:pt>
                <c:pt idx="2">
                  <c:v>Bioplastics (PLA, etc.)</c:v>
                </c:pt>
                <c:pt idx="3">
                  <c:v>Other Alternatives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68</c:v>
                </c:pt>
                <c:pt idx="1">
                  <c:v>18</c:v>
                </c:pt>
                <c:pt idx="2">
                  <c:v>7</c:v>
                </c:pt>
                <c:pt idx="3">
                  <c:v>7</c:v>
                </c:pt>
              </c:numCache>
            </c:numRef>
          </c:val>
        </c:ser>
        <c:dLbls>
          <c:numFmt formatCode="0%" sourceLinked="0"/>
          <c:showLegendKey val="0"/>
          <c:showVal val="0"/>
          <c:showCatName val="0"/>
          <c:showSerName val="0"/>
          <c:showPercent val="1"/>
          <c:showBubbleSize val="0"/>
          <c:showLeaderLines val="1"/>
        </c:dLbls>
      </c:pieChart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800">
                <a:solidFill>
                  <a:srgbClr val="FFFFFF"/>
                </a:solidFill>
              </a:defRPr>
            </a:pPr>
            <a:r>
              <a:t>Life Cycle Engineering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FFFFFF"/>
                </a:solidFill>
              </a:defRPr>
            </a:pPr>
            <a:r>
              <a:t>PLA vs. Biodegradable PPE Food Packaging Containers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57400"/>
            <a:ext cx="7223760" cy="4389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331720"/>
            <a:ext cx="65836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162535"/>
                </a:solidFill>
              </a:defRPr>
            </a:pPr>
            <a:r>
              <a:t>Course: Life Cycle Engineering 2026</a:t>
            </a:r>
          </a:p>
          <a:p>
            <a:pPr>
              <a:spcAft>
                <a:spcPts val="400"/>
              </a:spcAft>
              <a:defRPr sz="2000">
                <a:solidFill>
                  <a:srgbClr val="162535"/>
                </a:solidFill>
              </a:defRPr>
            </a:pPr>
            <a:r>
              <a:t>Professor: Paulo Peças</a:t>
            </a:r>
          </a:p>
          <a:p>
            <a:pPr>
              <a:spcAft>
                <a:spcPts val="400"/>
              </a:spcAft>
              <a:defRPr sz="2000">
                <a:solidFill>
                  <a:srgbClr val="162535"/>
                </a:solidFill>
              </a:defRPr>
            </a:pPr>
            <a:r>
              <a:t>Group Members: ____________________</a:t>
            </a:r>
          </a:p>
          <a:p>
            <a:pPr>
              <a:spcAft>
                <a:spcPts val="400"/>
              </a:spcAft>
              <a:defRPr sz="2000">
                <a:solidFill>
                  <a:srgbClr val="162535"/>
                </a:solidFill>
              </a:defRPr>
            </a:pPr>
            <a:r>
              <a:t>Date: July 1, 2026</a:t>
            </a:r>
          </a:p>
          <a:p>
            <a:pPr>
              <a:spcAft>
                <a:spcPts val="400"/>
              </a:spcAft>
              <a:defRPr sz="2000">
                <a:solidFill>
                  <a:srgbClr val="162535"/>
                </a:solidFill>
              </a:defRPr>
            </a:pPr>
          </a:p>
          <a:p>
            <a:pPr>
              <a:spcAft>
                <a:spcPts val="400"/>
              </a:spcAft>
              <a:defRPr sz="2000">
                <a:solidFill>
                  <a:srgbClr val="162535"/>
                </a:solidFill>
              </a:defRPr>
            </a:pPr>
            <a:r>
              <a:t>Why this product?</a:t>
            </a:r>
          </a:p>
          <a:p>
            <a:pPr>
              <a:spcAft>
                <a:spcPts val="400"/>
              </a:spcAft>
              <a:defRPr sz="2000">
                <a:solidFill>
                  <a:srgbClr val="162535"/>
                </a:solidFill>
              </a:defRPr>
            </a:pPr>
            <a:r>
              <a:t>Takeaway containers are high-volume single-use items and a major lever for plastic-waste reduction under EU policy shifts.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13C69"/>
                </a:solidFill>
              </a:defRPr>
            </a:pPr>
            <a:r>
              <a:t>Product Characterization, Alternatives, and Process Model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14400"/>
            <a:ext cx="5486400" cy="2377440"/>
          </a:xfrm>
          <a:prstGeom prst="roundRect">
            <a:avLst/>
          </a:prstGeom>
          <a:solidFill>
            <a:srgbClr val="FFFFFF"/>
          </a:solidFill>
          <a:ln>
            <a:solidFill>
              <a:srgbClr val="CBD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5029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222E3A"/>
                </a:solidFill>
              </a:defRPr>
            </a:pPr>
            <a:r>
              <a:t>• Functional Unit: 1,000 containers (500–750 mL)</a:t>
            </a:r>
          </a:p>
          <a:p>
            <a:pPr>
              <a:spcAft>
                <a:spcPts val="400"/>
              </a:spcAft>
              <a:defRPr sz="1400">
                <a:solidFill>
                  <a:srgbClr val="222E3A"/>
                </a:solidFill>
              </a:defRPr>
            </a:pPr>
            <a:r>
              <a:t>• Market Size (EU): 8–10 billion units/year</a:t>
            </a:r>
          </a:p>
          <a:p>
            <a:pPr>
              <a:spcAft>
                <a:spcPts val="400"/>
              </a:spcAft>
              <a:defRPr sz="1400">
                <a:solidFill>
                  <a:srgbClr val="222E3A"/>
                </a:solidFill>
              </a:defRPr>
            </a:pPr>
            <a:r>
              <a:t>• Requirements: food-safe, heat-resistant, lightweight, low-cost, scalable</a:t>
            </a:r>
          </a:p>
          <a:p>
            <a:pPr>
              <a:spcAft>
                <a:spcPts val="400"/>
              </a:spcAft>
              <a:defRPr sz="1400">
                <a:solidFill>
                  <a:srgbClr val="222E3A"/>
                </a:solidFill>
              </a:defRPr>
            </a:pPr>
            <a:r>
              <a:t>• PLA: density 1.24 g/cm³ | thermoforming | ~55°C | industrial composting</a:t>
            </a:r>
          </a:p>
          <a:p>
            <a:pPr>
              <a:spcAft>
                <a:spcPts val="400"/>
              </a:spcAft>
              <a:defRPr sz="1400">
                <a:solidFill>
                  <a:srgbClr val="222E3A"/>
                </a:solidFill>
              </a:defRPr>
            </a:pPr>
            <a:r>
              <a:t>• PPE: density 0.90 g/cm³ | injection moulding | up to 100°C | limited compostability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6118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075745"/>
                </a:solidFill>
              </a:defRPr>
            </a:pPr>
            <a:r>
              <a:t>PLA Process Chain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977639"/>
            <a:ext cx="960120" cy="502920"/>
          </a:xfrm>
          <a:prstGeom prst="roundRect">
            <a:avLst/>
          </a:prstGeom>
          <a:solidFill>
            <a:srgbClr val="DBF2EB"/>
          </a:solidFill>
          <a:ln>
            <a:solidFill>
              <a:srgbClr val="529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PLA granulate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1618488" y="4169663"/>
            <a:ext cx="320040" cy="91440"/>
          </a:xfrm>
          <a:prstGeom prst="rect">
            <a:avLst/>
          </a:prstGeom>
          <a:solidFill>
            <a:srgbClr val="529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965960" y="3977639"/>
            <a:ext cx="960120" cy="502920"/>
          </a:xfrm>
          <a:prstGeom prst="roundRect">
            <a:avLst/>
          </a:prstGeom>
          <a:solidFill>
            <a:srgbClr val="DBF2EB"/>
          </a:solidFill>
          <a:ln>
            <a:solidFill>
              <a:srgbClr val="529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Sheet extrusion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44368" y="4169663"/>
            <a:ext cx="320040" cy="91440"/>
          </a:xfrm>
          <a:prstGeom prst="rect">
            <a:avLst/>
          </a:prstGeom>
          <a:solidFill>
            <a:srgbClr val="529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291839" y="3977639"/>
            <a:ext cx="960120" cy="502920"/>
          </a:xfrm>
          <a:prstGeom prst="roundRect">
            <a:avLst/>
          </a:prstGeom>
          <a:solidFill>
            <a:srgbClr val="DBF2EB"/>
          </a:solidFill>
          <a:ln>
            <a:solidFill>
              <a:srgbClr val="529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Thermoforming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70248" y="4169663"/>
            <a:ext cx="320040" cy="91440"/>
          </a:xfrm>
          <a:prstGeom prst="rect">
            <a:avLst/>
          </a:prstGeom>
          <a:solidFill>
            <a:srgbClr val="529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17720" y="3977639"/>
            <a:ext cx="960120" cy="502920"/>
          </a:xfrm>
          <a:prstGeom prst="roundRect">
            <a:avLst/>
          </a:prstGeom>
          <a:solidFill>
            <a:srgbClr val="DBF2EB"/>
          </a:solidFill>
          <a:ln>
            <a:solidFill>
              <a:srgbClr val="529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Trimming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96128" y="4169663"/>
            <a:ext cx="320040" cy="91440"/>
          </a:xfrm>
          <a:prstGeom prst="rect">
            <a:avLst/>
          </a:prstGeom>
          <a:solidFill>
            <a:srgbClr val="529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0" y="3977639"/>
            <a:ext cx="960120" cy="502920"/>
          </a:xfrm>
          <a:prstGeom prst="roundRect">
            <a:avLst/>
          </a:prstGeom>
          <a:solidFill>
            <a:srgbClr val="DBF2EB"/>
          </a:solidFill>
          <a:ln>
            <a:solidFill>
              <a:srgbClr val="529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Packaging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681728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70430C"/>
                </a:solidFill>
              </a:defRPr>
            </a:pPr>
            <a:r>
              <a:t>PPE Process Chain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029200"/>
            <a:ext cx="960120" cy="502920"/>
          </a:xfrm>
          <a:prstGeom prst="roundRect">
            <a:avLst/>
          </a:prstGeom>
          <a:solidFill>
            <a:srgbClr val="FFECD6"/>
          </a:solidFill>
          <a:ln>
            <a:solidFill>
              <a:srgbClr val="C28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PPE granulate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18488" y="5221224"/>
            <a:ext cx="320040" cy="91440"/>
          </a:xfrm>
          <a:prstGeom prst="rect">
            <a:avLst/>
          </a:prstGeom>
          <a:solidFill>
            <a:srgbClr val="C2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965960" y="5029200"/>
            <a:ext cx="960120" cy="502920"/>
          </a:xfrm>
          <a:prstGeom prst="roundRect">
            <a:avLst/>
          </a:prstGeom>
          <a:solidFill>
            <a:srgbClr val="FFECD6"/>
          </a:solidFill>
          <a:ln>
            <a:solidFill>
              <a:srgbClr val="C28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Injection moulding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44368" y="5221224"/>
            <a:ext cx="320040" cy="91440"/>
          </a:xfrm>
          <a:prstGeom prst="rect">
            <a:avLst/>
          </a:prstGeom>
          <a:solidFill>
            <a:srgbClr val="C2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291839" y="5029200"/>
            <a:ext cx="960120" cy="502920"/>
          </a:xfrm>
          <a:prstGeom prst="roundRect">
            <a:avLst/>
          </a:prstGeom>
          <a:solidFill>
            <a:srgbClr val="FFECD6"/>
          </a:solidFill>
          <a:ln>
            <a:solidFill>
              <a:srgbClr val="C28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Cooling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70248" y="5221224"/>
            <a:ext cx="320040" cy="91440"/>
          </a:xfrm>
          <a:prstGeom prst="rect">
            <a:avLst/>
          </a:prstGeom>
          <a:solidFill>
            <a:srgbClr val="C2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617720" y="5029200"/>
            <a:ext cx="960120" cy="502920"/>
          </a:xfrm>
          <a:prstGeom prst="roundRect">
            <a:avLst/>
          </a:prstGeom>
          <a:solidFill>
            <a:srgbClr val="FFECD6"/>
          </a:solidFill>
          <a:ln>
            <a:solidFill>
              <a:srgbClr val="C28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Ejection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596128" y="5221224"/>
            <a:ext cx="320040" cy="91440"/>
          </a:xfrm>
          <a:prstGeom prst="rect">
            <a:avLst/>
          </a:prstGeom>
          <a:solidFill>
            <a:srgbClr val="C2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943600" y="5029200"/>
            <a:ext cx="960120" cy="502920"/>
          </a:xfrm>
          <a:prstGeom prst="roundRect">
            <a:avLst/>
          </a:prstGeom>
          <a:solidFill>
            <a:srgbClr val="FFECD6"/>
          </a:solidFill>
          <a:ln>
            <a:solidFill>
              <a:srgbClr val="C28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Packaging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3337560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232323"/>
                </a:solidFill>
              </a:defRPr>
            </a:pPr>
            <a:r>
              <a:t>• Machine Selection: PLA → Thermoforming machine | PPE → Injection moulding machine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531E6B"/>
                </a:solidFill>
              </a:defRPr>
            </a:pPr>
            <a:r>
              <a:t>Core Results: LCC and LCA (per 1,000 containers)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914400"/>
            <a:ext cx="557784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D9C7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143000"/>
            <a:ext cx="5212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82828"/>
                </a:solidFill>
              </a:defRPr>
            </a:pPr>
            <a:r>
              <a:t>• LCC Total: PLA = €66.3 | PPE = €54.4  → PPE economically superior</a:t>
            </a:r>
          </a:p>
          <a:p>
            <a:pPr>
              <a:spcAft>
                <a:spcPts val="400"/>
              </a:spcAft>
              <a:defRPr sz="1300">
                <a:solidFill>
                  <a:srgbClr val="282828"/>
                </a:solidFill>
              </a:defRPr>
            </a:pPr>
            <a:r>
              <a:t>• Material: 39.6 vs 22.4 | Energy: 6.5 vs 8.2</a:t>
            </a:r>
          </a:p>
          <a:p>
            <a:pPr>
              <a:spcAft>
                <a:spcPts val="400"/>
              </a:spcAft>
              <a:defRPr sz="1300">
                <a:solidFill>
                  <a:srgbClr val="282828"/>
                </a:solidFill>
              </a:defRPr>
            </a:pPr>
            <a:r>
              <a:t>• Labour: 12 vs 12 | Depreciation: 4 vs 6 | Tooling: 3 vs 5 | Waste: 1.2 vs 0.8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060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5C217A"/>
                </a:solidFill>
              </a:defRPr>
            </a:pPr>
            <a:r>
              <a:t>LCC Total Cost 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15468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PLA</a:t>
            </a:r>
          </a:p>
        </p:txBody>
      </p:sp>
      <p:sp>
        <p:nvSpPr>
          <p:cNvPr id="8" name="Rectangle 7"/>
          <p:cNvSpPr/>
          <p:nvPr/>
        </p:nvSpPr>
        <p:spPr>
          <a:xfrm>
            <a:off x="1188720" y="3154680"/>
            <a:ext cx="2121865" cy="320040"/>
          </a:xfrm>
          <a:prstGeom prst="rect">
            <a:avLst/>
          </a:prstGeom>
          <a:solidFill>
            <a:srgbClr val="8A50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02025" y="31546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2D2D2D"/>
                </a:solidFill>
              </a:defRPr>
            </a:pPr>
            <a:r>
              <a:t>66.3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7307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PPE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3730752"/>
            <a:ext cx="1741017" cy="320040"/>
          </a:xfrm>
          <a:prstGeom prst="rect">
            <a:avLst/>
          </a:prstGeom>
          <a:solidFill>
            <a:srgbClr val="628F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21177" y="37307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2D2D2D"/>
                </a:solidFill>
              </a:defRPr>
            </a:pPr>
            <a:r>
              <a:t>54.4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914400"/>
            <a:ext cx="5303520" cy="5394960"/>
          </a:xfrm>
          <a:prstGeom prst="roundRect">
            <a:avLst/>
          </a:prstGeom>
          <a:solidFill>
            <a:srgbClr val="FFFFFF"/>
          </a:solidFill>
          <a:ln>
            <a:solidFill>
              <a:srgbClr val="BAD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1143000"/>
            <a:ext cx="4754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232323"/>
                </a:solidFill>
              </a:defRPr>
            </a:pPr>
            <a:r>
              <a:t>• LCA Highlights</a:t>
            </a:r>
          </a:p>
          <a:p>
            <a:pPr>
              <a:spcAft>
                <a:spcPts val="400"/>
              </a:spcAft>
              <a:defRPr sz="1200">
                <a:solidFill>
                  <a:srgbClr val="232323"/>
                </a:solidFill>
              </a:defRPr>
            </a:pPr>
            <a:r>
              <a:t>• GWP (kg CO₂-eq): PLA 28 vs PPE 34 (PLA better)</a:t>
            </a:r>
          </a:p>
          <a:p>
            <a:pPr>
              <a:spcAft>
                <a:spcPts val="400"/>
              </a:spcAft>
              <a:defRPr sz="1200">
                <a:solidFill>
                  <a:srgbClr val="232323"/>
                </a:solidFill>
              </a:defRPr>
            </a:pPr>
            <a:r>
              <a:t>• Energy Demand (MJ): PLA 420 vs PPE 510 (PLA better)</a:t>
            </a:r>
          </a:p>
          <a:p>
            <a:pPr>
              <a:spcAft>
                <a:spcPts val="400"/>
              </a:spcAft>
              <a:defRPr sz="1200">
                <a:solidFill>
                  <a:srgbClr val="232323"/>
                </a:solidFill>
              </a:defRPr>
            </a:pPr>
            <a:r>
              <a:t>• Water Use (L): PLA 180 vs PPE 60 (PPE better)</a:t>
            </a:r>
          </a:p>
          <a:p>
            <a:pPr>
              <a:spcAft>
                <a:spcPts val="400"/>
              </a:spcAft>
              <a:defRPr sz="1200">
                <a:solidFill>
                  <a:srgbClr val="232323"/>
                </a:solidFill>
              </a:defRPr>
            </a:pPr>
            <a:r>
              <a:t>• End-of-life performance depends on composting availability for PLA.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06324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3063240"/>
            <a:ext cx="1882588" cy="228600"/>
          </a:xfrm>
          <a:prstGeom prst="rect">
            <a:avLst/>
          </a:prstGeom>
          <a:solidFill>
            <a:srgbClr val="50B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06640" y="3355848"/>
            <a:ext cx="2286000" cy="228600"/>
          </a:xfrm>
          <a:prstGeom prst="rect">
            <a:avLst/>
          </a:prstGeom>
          <a:solidFill>
            <a:srgbClr val="EC90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3977639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Energy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3977639"/>
            <a:ext cx="1882588" cy="228600"/>
          </a:xfrm>
          <a:prstGeom prst="rect">
            <a:avLst/>
          </a:prstGeom>
          <a:solidFill>
            <a:srgbClr val="50B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06640" y="4270248"/>
            <a:ext cx="2286000" cy="228600"/>
          </a:xfrm>
          <a:prstGeom prst="rect">
            <a:avLst/>
          </a:prstGeom>
          <a:solidFill>
            <a:srgbClr val="EC90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489204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Water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06640" y="4892040"/>
            <a:ext cx="2286000" cy="228600"/>
          </a:xfrm>
          <a:prstGeom prst="rect">
            <a:avLst/>
          </a:prstGeom>
          <a:solidFill>
            <a:srgbClr val="50B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406640" y="5184648"/>
            <a:ext cx="761999" cy="228600"/>
          </a:xfrm>
          <a:prstGeom prst="rect">
            <a:avLst/>
          </a:prstGeom>
          <a:solidFill>
            <a:srgbClr val="EC90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12680" y="571500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C3C3C"/>
                </a:solidFill>
              </a:defRPr>
            </a:pPr>
            <a:r>
              <a:t>Green=PLA  Orange=PPE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926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100">
                <a:solidFill>
                  <a:srgbClr val="FFFFFF"/>
                </a:solidFill>
              </a:defRPr>
            </a:pPr>
            <a:r>
              <a:t>Sensitivity, Positioning, and Final Recommendation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914400"/>
            <a:ext cx="5669280" cy="5394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51206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32D3A"/>
                </a:solidFill>
              </a:defRPr>
            </a:pPr>
            <a:r>
              <a:t>Sensitivity Analysis (Professor Required)</a:t>
            </a:r>
          </a:p>
          <a:p>
            <a:pPr>
              <a:spcAft>
                <a:spcPts val="400"/>
              </a:spcAft>
              <a:defRPr sz="1300">
                <a:solidFill>
                  <a:srgbClr val="232D3A"/>
                </a:solidFill>
              </a:defRPr>
            </a:pPr>
            <a:r>
              <a:t>• PLA is highly sensitive to feedstock/material price (±20%).</a:t>
            </a:r>
          </a:p>
          <a:p>
            <a:pPr>
              <a:spcAft>
                <a:spcPts val="400"/>
              </a:spcAft>
              <a:defRPr sz="1300">
                <a:solidFill>
                  <a:srgbClr val="232D3A"/>
                </a:solidFill>
              </a:defRPr>
            </a:pPr>
            <a:r>
              <a:t>• PPE is highly sensitive to energy price (±30%).</a:t>
            </a:r>
          </a:p>
          <a:p>
            <a:pPr>
              <a:spcAft>
                <a:spcPts val="400"/>
              </a:spcAft>
              <a:defRPr sz="1300">
                <a:solidFill>
                  <a:srgbClr val="232D3A"/>
                </a:solidFill>
              </a:defRPr>
            </a:pPr>
            <a:r>
              <a:t>• Higher scrap rates penalize PLA more strongly.</a:t>
            </a:r>
          </a:p>
          <a:p>
            <a:pPr>
              <a:spcAft>
                <a:spcPts val="400"/>
              </a:spcAft>
              <a:defRPr sz="1300">
                <a:solidFill>
                  <a:srgbClr val="232D3A"/>
                </a:solidFill>
              </a:defRPr>
            </a:pPr>
            <a:r>
              <a:t>• PLA outcome depends on composting infrastructure quality.</a:t>
            </a:r>
          </a:p>
          <a:p>
            <a:pPr>
              <a:spcAft>
                <a:spcPts val="400"/>
              </a:spcAft>
              <a:defRPr sz="1300">
                <a:solidFill>
                  <a:srgbClr val="232D3A"/>
                </a:solidFill>
              </a:defRPr>
            </a:pPr>
            <a:r>
              <a:t>• PPE gains from large-scale production volumes.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576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232D3A"/>
                </a:solidFill>
              </a:defRPr>
            </a:pPr>
            <a:r>
              <a:t>Sensitivity Tornado (relative impact)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977639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23232"/>
                </a:solidFill>
              </a:defRPr>
            </a:pPr>
            <a:r>
              <a:t>Material price</a:t>
            </a:r>
          </a:p>
        </p:txBody>
      </p:sp>
      <p:sp>
        <p:nvSpPr>
          <p:cNvPr id="8" name="Rectangle 7"/>
          <p:cNvSpPr/>
          <p:nvPr/>
        </p:nvSpPr>
        <p:spPr>
          <a:xfrm>
            <a:off x="2468880" y="3977639"/>
            <a:ext cx="2432303" cy="201168"/>
          </a:xfrm>
          <a:prstGeom prst="rect">
            <a:avLst/>
          </a:prstGeom>
          <a:solidFill>
            <a:srgbClr val="5A8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38912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23232"/>
                </a:solidFill>
              </a:defRPr>
            </a:pPr>
            <a:r>
              <a:t>Energy price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68880" y="4389120"/>
            <a:ext cx="1920239" cy="201168"/>
          </a:xfrm>
          <a:prstGeom prst="rect">
            <a:avLst/>
          </a:prstGeom>
          <a:solidFill>
            <a:srgbClr val="5A8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23232"/>
                </a:solidFill>
              </a:defRPr>
            </a:pPr>
            <a:r>
              <a:t>End-of-life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68880" y="4800600"/>
            <a:ext cx="1664207" cy="201168"/>
          </a:xfrm>
          <a:prstGeom prst="rect">
            <a:avLst/>
          </a:prstGeom>
          <a:solidFill>
            <a:srgbClr val="5A8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21208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23232"/>
                </a:solidFill>
              </a:defRPr>
            </a:pPr>
            <a:r>
              <a:t>Scrap rate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468880" y="5212080"/>
            <a:ext cx="1408176" cy="201168"/>
          </a:xfrm>
          <a:prstGeom prst="rect">
            <a:avLst/>
          </a:prstGeom>
          <a:solidFill>
            <a:srgbClr val="5A8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62356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23232"/>
                </a:solidFill>
              </a:defRPr>
            </a:pPr>
            <a:r>
              <a:t>Volume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468880" y="5623560"/>
            <a:ext cx="1280160" cy="201168"/>
          </a:xfrm>
          <a:prstGeom prst="rect">
            <a:avLst/>
          </a:prstGeom>
          <a:solidFill>
            <a:srgbClr val="5A8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583680" y="914400"/>
            <a:ext cx="4937760" cy="5394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12280" y="1143000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C2C2C"/>
                </a:solidFill>
              </a:defRPr>
            </a:pPr>
            <a:r>
              <a:t>Alternatives Mapping (Cost–Environment–Technical)</a:t>
            </a:r>
          </a:p>
        </p:txBody>
      </p:sp>
      <p:sp>
        <p:nvSpPr>
          <p:cNvPr id="19" name="Isosceles Triangle 18"/>
          <p:cNvSpPr/>
          <p:nvPr/>
        </p:nvSpPr>
        <p:spPr>
          <a:xfrm>
            <a:off x="7040880" y="1691640"/>
            <a:ext cx="3566160" cy="2651760"/>
          </a:xfrm>
          <a:prstGeom prst="triangle">
            <a:avLst/>
          </a:prstGeom>
          <a:solidFill>
            <a:srgbClr val="ECF6EF"/>
          </a:solidFill>
          <a:ln>
            <a:solidFill>
              <a:srgbClr val="5E8E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79" y="16642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2D5A3B"/>
                </a:solidFill>
              </a:defRPr>
            </a:pPr>
            <a:r>
              <a:t>Environment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80" y="416052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2D5A3B"/>
                </a:solidFill>
              </a:defRPr>
            </a:pPr>
            <a:r>
              <a:t>Cost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12680" y="4160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2D5A3B"/>
                </a:solidFill>
              </a:defRPr>
            </a:pPr>
            <a:r>
              <a:t>Technical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63840" y="2377440"/>
            <a:ext cx="164592" cy="164592"/>
          </a:xfrm>
          <a:prstGeom prst="roundRect">
            <a:avLst/>
          </a:prstGeom>
          <a:solidFill>
            <a:srgbClr val="47AB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0" y="2340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225435"/>
                </a:solidFill>
              </a:defRPr>
            </a:pPr>
            <a:r>
              <a:t>PLA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06840" y="3246120"/>
            <a:ext cx="164592" cy="164592"/>
          </a:xfrm>
          <a:prstGeom prst="roundRect">
            <a:avLst/>
          </a:prstGeom>
          <a:solidFill>
            <a:srgbClr val="E77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17152" y="321868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6D3C22"/>
                </a:solidFill>
              </a:defRPr>
            </a:pPr>
            <a:r>
              <a:t>PPE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2280" y="4526280"/>
            <a:ext cx="4480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Final conclusions: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PLA: best environmental option (if composting is available).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PPE: best economic + technical option (especially hot food).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Recommended for deployment: choose by temperature, waste system, and budget.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64592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32C4E"/>
                </a:solidFill>
              </a:defRPr>
            </a:pPr>
            <a:r>
              <a:t>MANUFACTURING PROCESS – TAKEAWAY FOOD CONTAINER (650 mL)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658368"/>
            <a:ext cx="4023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 b="1">
                <a:solidFill>
                  <a:srgbClr val="196D2C"/>
                </a:solidFill>
              </a:defRPr>
            </a:pPr>
            <a:r>
              <a:t>PROCESS 1: PLA – THERMOFORMING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896112"/>
            <a:ext cx="1554480" cy="2212848"/>
          </a:xfrm>
          <a:prstGeom prst="roundRect">
            <a:avLst/>
          </a:prstGeom>
          <a:solidFill>
            <a:srgbClr val="FAFBFC"/>
          </a:solidFill>
          <a:ln>
            <a:solidFill>
              <a:srgbClr val="3582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896112"/>
            <a:ext cx="1554480" cy="329184"/>
          </a:xfrm>
          <a:prstGeom prst="rect">
            <a:avLst/>
          </a:prstGeom>
          <a:solidFill>
            <a:srgbClr val="287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01752" y="941832"/>
            <a:ext cx="210312" cy="21031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287834"/>
                </a:solidFill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932688"/>
            <a:ext cx="1188719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50" b="1">
                <a:solidFill>
                  <a:srgbClr val="FFFFFF"/>
                </a:solidFill>
              </a:defRPr>
            </a:pPr>
            <a:r>
              <a:t>PLA GRANULATE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307592"/>
            <a:ext cx="12801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60" b="0">
                <a:solidFill>
                  <a:srgbClr val="1C1C1C"/>
                </a:solidFill>
              </a:defRPr>
            </a:pPr>
            <a:r>
              <a:t>PLA resin pellets</a:t>
            </a:r>
            <a:br/>
            <a:r>
              <a:t>used as raw material.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6888" y="2148839"/>
            <a:ext cx="1517904" cy="914400"/>
          </a:xfrm>
          <a:prstGeom prst="rect">
            <a:avLst/>
          </a:prstGeom>
          <a:solidFill>
            <a:srgbClr val="E6E9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" y="2624328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5A5A5A"/>
                </a:solidFill>
              </a:defRPr>
            </a:pPr>
            <a:r>
              <a:t>Image placeholder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1801368" y="1764792"/>
            <a:ext cx="228600" cy="173736"/>
          </a:xfrm>
          <a:prstGeom prst="rightArrow">
            <a:avLst/>
          </a:prstGeom>
          <a:solidFill>
            <a:srgbClr val="358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039112" y="896112"/>
            <a:ext cx="1554480" cy="2212848"/>
          </a:xfrm>
          <a:prstGeom prst="roundRect">
            <a:avLst/>
          </a:prstGeom>
          <a:solidFill>
            <a:srgbClr val="FAFBFC"/>
          </a:solidFill>
          <a:ln>
            <a:solidFill>
              <a:srgbClr val="3582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39112" y="896112"/>
            <a:ext cx="1554480" cy="329184"/>
          </a:xfrm>
          <a:prstGeom prst="rect">
            <a:avLst/>
          </a:prstGeom>
          <a:solidFill>
            <a:srgbClr val="287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112264" y="941832"/>
            <a:ext cx="210312" cy="21031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287834"/>
                </a:solidFill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59152" y="932688"/>
            <a:ext cx="1188719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50" b="1">
                <a:solidFill>
                  <a:srgbClr val="FFFFFF"/>
                </a:solidFill>
              </a:defRPr>
            </a:pPr>
            <a:r>
              <a:t>SHEET EXTRUSION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76272" y="1307592"/>
            <a:ext cx="12801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60" b="0">
                <a:solidFill>
                  <a:srgbClr val="1C1C1C"/>
                </a:solidFill>
              </a:defRPr>
            </a:pPr>
            <a:r>
              <a:t>PLA granulate is melted</a:t>
            </a:r>
            <a:br/>
            <a:r>
              <a:t>and extruded into</a:t>
            </a:r>
            <a:br/>
            <a:r>
              <a:t>continuous sheets.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57400" y="2148839"/>
            <a:ext cx="1517904" cy="914400"/>
          </a:xfrm>
          <a:prstGeom prst="rect">
            <a:avLst/>
          </a:prstGeom>
          <a:solidFill>
            <a:srgbClr val="E6E9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48840" y="2624328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5A5A5A"/>
                </a:solidFill>
              </a:defRPr>
            </a:pPr>
            <a:r>
              <a:t>Image placeholder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3611879" y="1764792"/>
            <a:ext cx="228600" cy="173736"/>
          </a:xfrm>
          <a:prstGeom prst="rightArrow">
            <a:avLst/>
          </a:prstGeom>
          <a:solidFill>
            <a:srgbClr val="358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849624" y="896112"/>
            <a:ext cx="1554480" cy="2212848"/>
          </a:xfrm>
          <a:prstGeom prst="roundRect">
            <a:avLst/>
          </a:prstGeom>
          <a:solidFill>
            <a:srgbClr val="FAFBFC"/>
          </a:solidFill>
          <a:ln>
            <a:solidFill>
              <a:srgbClr val="3582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849624" y="896112"/>
            <a:ext cx="1554480" cy="329184"/>
          </a:xfrm>
          <a:prstGeom prst="rect">
            <a:avLst/>
          </a:prstGeom>
          <a:solidFill>
            <a:srgbClr val="287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922776" y="941832"/>
            <a:ext cx="210312" cy="21031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287834"/>
                </a:solidFill>
              </a:defRPr>
            </a:pPr>
            <a: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663" y="932688"/>
            <a:ext cx="1188719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50" b="1">
                <a:solidFill>
                  <a:srgbClr val="FFFFFF"/>
                </a:solidFill>
              </a:defRPr>
            </a:pPr>
            <a:r>
              <a:t>THERMOFORMING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86784" y="1307592"/>
            <a:ext cx="12801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60" b="0">
                <a:solidFill>
                  <a:srgbClr val="1C1C1C"/>
                </a:solidFill>
              </a:defRPr>
            </a:pPr>
            <a:r>
              <a:t>Heated PLA sheet is</a:t>
            </a:r>
            <a:br/>
            <a:r>
              <a:t>formed into container</a:t>
            </a:r>
            <a:br/>
            <a:r>
              <a:t>shape using vacuum</a:t>
            </a:r>
            <a:br/>
            <a:r>
              <a:t>forming.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867911" y="2148839"/>
            <a:ext cx="1517904" cy="914400"/>
          </a:xfrm>
          <a:prstGeom prst="rect">
            <a:avLst/>
          </a:prstGeom>
          <a:solidFill>
            <a:srgbClr val="E6E9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959352" y="2624328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5A5A5A"/>
                </a:solidFill>
              </a:defRPr>
            </a:pPr>
            <a:r>
              <a:t>Image placeholder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5422392" y="1764792"/>
            <a:ext cx="228600" cy="173736"/>
          </a:xfrm>
          <a:prstGeom prst="rightArrow">
            <a:avLst/>
          </a:prstGeom>
          <a:solidFill>
            <a:srgbClr val="358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660136" y="896112"/>
            <a:ext cx="1554480" cy="2212848"/>
          </a:xfrm>
          <a:prstGeom prst="roundRect">
            <a:avLst/>
          </a:prstGeom>
          <a:solidFill>
            <a:srgbClr val="FAFBFC"/>
          </a:solidFill>
          <a:ln>
            <a:solidFill>
              <a:srgbClr val="3582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660136" y="896112"/>
            <a:ext cx="1554480" cy="329184"/>
          </a:xfrm>
          <a:prstGeom prst="rect">
            <a:avLst/>
          </a:prstGeom>
          <a:solidFill>
            <a:srgbClr val="287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733288" y="941832"/>
            <a:ext cx="210312" cy="21031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287834"/>
                </a:solidFill>
              </a:defRPr>
            </a:pPr>
            <a: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80175" y="932688"/>
            <a:ext cx="1188719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50" b="1">
                <a:solidFill>
                  <a:srgbClr val="FFFFFF"/>
                </a:solidFill>
              </a:defRPr>
            </a:pPr>
            <a:r>
              <a:t>TRIMMING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97296" y="1307592"/>
            <a:ext cx="12801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60" b="0">
                <a:solidFill>
                  <a:srgbClr val="1C1C1C"/>
                </a:solidFill>
              </a:defRPr>
            </a:pPr>
            <a:r>
              <a:t>Excess material (flange)</a:t>
            </a:r>
            <a:br/>
            <a:r>
              <a:t>is trimmed to final</a:t>
            </a:r>
            <a:br/>
            <a:r>
              <a:t>container shape.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78423" y="2148839"/>
            <a:ext cx="1517904" cy="914400"/>
          </a:xfrm>
          <a:prstGeom prst="rect">
            <a:avLst/>
          </a:prstGeom>
          <a:solidFill>
            <a:srgbClr val="E6E9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769864" y="2624328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5A5A5A"/>
                </a:solidFill>
              </a:defRPr>
            </a:pPr>
            <a:r>
              <a:t>Image placeholder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7232903" y="1764792"/>
            <a:ext cx="228600" cy="173736"/>
          </a:xfrm>
          <a:prstGeom prst="rightArrow">
            <a:avLst/>
          </a:prstGeom>
          <a:solidFill>
            <a:srgbClr val="358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470648" y="896112"/>
            <a:ext cx="1554480" cy="2212848"/>
          </a:xfrm>
          <a:prstGeom prst="roundRect">
            <a:avLst/>
          </a:prstGeom>
          <a:solidFill>
            <a:srgbClr val="FAFBFC"/>
          </a:solidFill>
          <a:ln>
            <a:solidFill>
              <a:srgbClr val="3582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470648" y="896112"/>
            <a:ext cx="1554480" cy="329184"/>
          </a:xfrm>
          <a:prstGeom prst="rect">
            <a:avLst/>
          </a:prstGeom>
          <a:solidFill>
            <a:srgbClr val="287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543800" y="941832"/>
            <a:ext cx="210312" cy="21031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287834"/>
                </a:solidFill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90688" y="932688"/>
            <a:ext cx="1188719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50" b="1">
                <a:solidFill>
                  <a:srgbClr val="FFFFFF"/>
                </a:solidFill>
              </a:defRPr>
            </a:pPr>
            <a:r>
              <a:t>PACKAGING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07808" y="1307592"/>
            <a:ext cx="12801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60" b="0">
                <a:solidFill>
                  <a:srgbClr val="1C1C1C"/>
                </a:solidFill>
              </a:defRPr>
            </a:pPr>
            <a:r>
              <a:t>Containers are stacked</a:t>
            </a:r>
            <a:br/>
            <a:r>
              <a:t>and packed for</a:t>
            </a:r>
            <a:br/>
            <a:r>
              <a:t>distribution.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488936" y="2148839"/>
            <a:ext cx="1517904" cy="914400"/>
          </a:xfrm>
          <a:prstGeom prst="rect">
            <a:avLst/>
          </a:prstGeom>
          <a:solidFill>
            <a:srgbClr val="E6E9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80375" y="2624328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5A5A5A"/>
                </a:solidFill>
              </a:defRPr>
            </a:pPr>
            <a:r>
              <a:t>Image placeholder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281160" y="896112"/>
            <a:ext cx="2011680" cy="2395728"/>
          </a:xfrm>
          <a:prstGeom prst="roundRect">
            <a:avLst/>
          </a:prstGeom>
          <a:solidFill>
            <a:srgbClr val="FCFCFC"/>
          </a:solidFill>
          <a:ln>
            <a:solidFill>
              <a:srgbClr val="3582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281160" y="896112"/>
            <a:ext cx="2011680" cy="329184"/>
          </a:xfrm>
          <a:prstGeom prst="rect">
            <a:avLst/>
          </a:prstGeom>
          <a:solidFill>
            <a:srgbClr val="287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372600" y="932688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FINAL PRODUCT (PLA)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326880" y="1307592"/>
            <a:ext cx="1920240" cy="914400"/>
          </a:xfrm>
          <a:prstGeom prst="rect">
            <a:avLst/>
          </a:prstGeom>
          <a:solidFill>
            <a:srgbClr val="E7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418320" y="2313432"/>
            <a:ext cx="17830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40" b="0">
                <a:solidFill>
                  <a:srgbClr val="1E1E1E"/>
                </a:solidFill>
              </a:defRPr>
            </a:pPr>
            <a:r>
              <a:t>• Material: PLA (Thermoformed)</a:t>
            </a:r>
            <a:br/>
            <a:r>
              <a:t>• Capacity: 650 mL</a:t>
            </a:r>
            <a:br/>
            <a:r>
              <a:t>• Color: Natural / Beige</a:t>
            </a:r>
            <a:br/>
            <a:r>
              <a:t>• Lightweight &amp; compostable</a:t>
            </a:r>
            <a:br/>
            <a:r>
              <a:t>• Suitable up to ~55°C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9061704" y="1764792"/>
            <a:ext cx="228600" cy="173736"/>
          </a:xfrm>
          <a:prstGeom prst="rightArrow">
            <a:avLst/>
          </a:prstGeom>
          <a:solidFill>
            <a:srgbClr val="358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1440" y="3410712"/>
            <a:ext cx="11978640" cy="18288"/>
          </a:xfrm>
          <a:prstGeom prst="rect">
            <a:avLst/>
          </a:prstGeom>
          <a:solidFill>
            <a:srgbClr val="467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28600" y="3520440"/>
            <a:ext cx="4937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 b="1">
                <a:solidFill>
                  <a:srgbClr val="1B5296"/>
                </a:solidFill>
              </a:defRPr>
            </a:pPr>
            <a:r>
              <a:t>PROCESS 2: BIODEGRADABLE PPE – INJECTION MOULDING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28600" y="3767328"/>
            <a:ext cx="1554480" cy="2212848"/>
          </a:xfrm>
          <a:prstGeom prst="roundRect">
            <a:avLst/>
          </a:prstGeom>
          <a:solidFill>
            <a:srgbClr val="FAFBFC"/>
          </a:solidFill>
          <a:ln>
            <a:solidFill>
              <a:srgbClr val="265D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28600" y="3767328"/>
            <a:ext cx="1554480" cy="329184"/>
          </a:xfrm>
          <a:prstGeom prst="rect">
            <a:avLst/>
          </a:prstGeom>
          <a:solidFill>
            <a:srgbClr val="1E53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301752" y="3813048"/>
            <a:ext cx="210312" cy="21031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1E5393"/>
                </a:solidFill>
              </a:defRPr>
            </a:pPr>
            <a:r>
              <a:t>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" y="3803904"/>
            <a:ext cx="1188719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50" b="1">
                <a:solidFill>
                  <a:srgbClr val="FFFFFF"/>
                </a:solidFill>
              </a:defRPr>
            </a:pPr>
            <a:r>
              <a:t>PPE GRANULATE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5760" y="4178808"/>
            <a:ext cx="12801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60" b="0">
                <a:solidFill>
                  <a:srgbClr val="1C1C1C"/>
                </a:solidFill>
              </a:defRPr>
            </a:pPr>
            <a:r>
              <a:t>Biodegradable PPE</a:t>
            </a:r>
            <a:br/>
            <a:r>
              <a:t>pellets used as</a:t>
            </a:r>
            <a:br/>
            <a:r>
              <a:t>raw material.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46888" y="5020056"/>
            <a:ext cx="1517904" cy="914400"/>
          </a:xfrm>
          <a:prstGeom prst="rect">
            <a:avLst/>
          </a:prstGeom>
          <a:solidFill>
            <a:srgbClr val="E6E9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38328" y="5495544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5A5A5A"/>
                </a:solidFill>
              </a:defRPr>
            </a:pPr>
            <a:r>
              <a:t>Image placeholder</a:t>
            </a:r>
          </a:p>
        </p:txBody>
      </p:sp>
      <p:sp>
        <p:nvSpPr>
          <p:cNvPr id="59" name="Right Arrow 58"/>
          <p:cNvSpPr/>
          <p:nvPr/>
        </p:nvSpPr>
        <p:spPr>
          <a:xfrm>
            <a:off x="1801368" y="4636008"/>
            <a:ext cx="228600" cy="173736"/>
          </a:xfrm>
          <a:prstGeom prst="rightArrow">
            <a:avLst/>
          </a:prstGeom>
          <a:solidFill>
            <a:srgbClr val="265D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2039112" y="3767328"/>
            <a:ext cx="1554480" cy="2212848"/>
          </a:xfrm>
          <a:prstGeom prst="roundRect">
            <a:avLst/>
          </a:prstGeom>
          <a:solidFill>
            <a:srgbClr val="FAFBFC"/>
          </a:solidFill>
          <a:ln>
            <a:solidFill>
              <a:srgbClr val="265D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039112" y="3767328"/>
            <a:ext cx="1554480" cy="329184"/>
          </a:xfrm>
          <a:prstGeom prst="rect">
            <a:avLst/>
          </a:prstGeom>
          <a:solidFill>
            <a:srgbClr val="1E53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2112264" y="3813048"/>
            <a:ext cx="210312" cy="21031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1E5393"/>
                </a:solidFill>
              </a:defRPr>
            </a:pPr>
            <a:r>
              <a:t>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359152" y="3803904"/>
            <a:ext cx="1188719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50" b="1">
                <a:solidFill>
                  <a:srgbClr val="FFFFFF"/>
                </a:solidFill>
              </a:defRPr>
            </a:pPr>
            <a:r>
              <a:t>INJECTION MOULDING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176272" y="4178808"/>
            <a:ext cx="12801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60" b="0">
                <a:solidFill>
                  <a:srgbClr val="1C1C1C"/>
                </a:solidFill>
              </a:defRPr>
            </a:pPr>
            <a:r>
              <a:t>Pellets are melted and</a:t>
            </a:r>
            <a:br/>
            <a:r>
              <a:t>injected into mould</a:t>
            </a:r>
            <a:br/>
            <a:r>
              <a:t>cavity under pressure.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057400" y="5020056"/>
            <a:ext cx="1517904" cy="914400"/>
          </a:xfrm>
          <a:prstGeom prst="rect">
            <a:avLst/>
          </a:prstGeom>
          <a:solidFill>
            <a:srgbClr val="E6E9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148840" y="5495544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5A5A5A"/>
                </a:solidFill>
              </a:defRPr>
            </a:pPr>
            <a:r>
              <a:t>Image placeholder</a:t>
            </a:r>
          </a:p>
        </p:txBody>
      </p:sp>
      <p:sp>
        <p:nvSpPr>
          <p:cNvPr id="67" name="Right Arrow 66"/>
          <p:cNvSpPr/>
          <p:nvPr/>
        </p:nvSpPr>
        <p:spPr>
          <a:xfrm>
            <a:off x="3611879" y="4636008"/>
            <a:ext cx="228600" cy="173736"/>
          </a:xfrm>
          <a:prstGeom prst="rightArrow">
            <a:avLst/>
          </a:prstGeom>
          <a:solidFill>
            <a:srgbClr val="265D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3849624" y="3767328"/>
            <a:ext cx="1554480" cy="2212848"/>
          </a:xfrm>
          <a:prstGeom prst="roundRect">
            <a:avLst/>
          </a:prstGeom>
          <a:solidFill>
            <a:srgbClr val="FAFBFC"/>
          </a:solidFill>
          <a:ln>
            <a:solidFill>
              <a:srgbClr val="265D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849624" y="3767328"/>
            <a:ext cx="1554480" cy="329184"/>
          </a:xfrm>
          <a:prstGeom prst="rect">
            <a:avLst/>
          </a:prstGeom>
          <a:solidFill>
            <a:srgbClr val="1E53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3922776" y="3813048"/>
            <a:ext cx="210312" cy="21031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1E5393"/>
                </a:solidFill>
              </a:defRPr>
            </a:pPr>
            <a:r>
              <a:t>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169663" y="3803904"/>
            <a:ext cx="1188719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50" b="1">
                <a:solidFill>
                  <a:srgbClr val="FFFFFF"/>
                </a:solidFill>
              </a:defRPr>
            </a:pPr>
            <a:r>
              <a:t>COOLING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986784" y="4178808"/>
            <a:ext cx="12801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60" b="0">
                <a:solidFill>
                  <a:srgbClr val="1C1C1C"/>
                </a:solidFill>
              </a:defRPr>
            </a:pPr>
            <a:r>
              <a:t>Mould is cooled to</a:t>
            </a:r>
            <a:br/>
            <a:r>
              <a:t>solidify the container</a:t>
            </a:r>
            <a:br/>
            <a:r>
              <a:t>shape.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867911" y="5020056"/>
            <a:ext cx="1517904" cy="914400"/>
          </a:xfrm>
          <a:prstGeom prst="rect">
            <a:avLst/>
          </a:prstGeom>
          <a:solidFill>
            <a:srgbClr val="E6E9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959352" y="5495544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5A5A5A"/>
                </a:solidFill>
              </a:defRPr>
            </a:pPr>
            <a:r>
              <a:t>Image placeholder</a:t>
            </a:r>
          </a:p>
        </p:txBody>
      </p:sp>
      <p:sp>
        <p:nvSpPr>
          <p:cNvPr id="75" name="Right Arrow 74"/>
          <p:cNvSpPr/>
          <p:nvPr/>
        </p:nvSpPr>
        <p:spPr>
          <a:xfrm>
            <a:off x="5422392" y="4636008"/>
            <a:ext cx="228600" cy="173736"/>
          </a:xfrm>
          <a:prstGeom prst="rightArrow">
            <a:avLst/>
          </a:prstGeom>
          <a:solidFill>
            <a:srgbClr val="265D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5660136" y="3767328"/>
            <a:ext cx="1554480" cy="2212848"/>
          </a:xfrm>
          <a:prstGeom prst="roundRect">
            <a:avLst/>
          </a:prstGeom>
          <a:solidFill>
            <a:srgbClr val="FAFBFC"/>
          </a:solidFill>
          <a:ln>
            <a:solidFill>
              <a:srgbClr val="265D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5660136" y="3767328"/>
            <a:ext cx="1554480" cy="329184"/>
          </a:xfrm>
          <a:prstGeom prst="rect">
            <a:avLst/>
          </a:prstGeom>
          <a:solidFill>
            <a:srgbClr val="1E53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5733288" y="3813048"/>
            <a:ext cx="210312" cy="21031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1E5393"/>
                </a:solidFill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980175" y="3803904"/>
            <a:ext cx="1188719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50" b="1">
                <a:solidFill>
                  <a:srgbClr val="FFFFFF"/>
                </a:solidFill>
              </a:defRPr>
            </a:pPr>
            <a:r>
              <a:t>EJECTION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797296" y="4178808"/>
            <a:ext cx="12801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60" b="0">
                <a:solidFill>
                  <a:srgbClr val="1C1C1C"/>
                </a:solidFill>
              </a:defRPr>
            </a:pPr>
            <a:r>
              <a:t>Container is ejected</a:t>
            </a:r>
            <a:br/>
            <a:r>
              <a:t>from the mould.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678423" y="5020056"/>
            <a:ext cx="1517904" cy="914400"/>
          </a:xfrm>
          <a:prstGeom prst="rect">
            <a:avLst/>
          </a:prstGeom>
          <a:solidFill>
            <a:srgbClr val="E6E9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769864" y="5495544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5A5A5A"/>
                </a:solidFill>
              </a:defRPr>
            </a:pPr>
            <a:r>
              <a:t>Image placeholder</a:t>
            </a:r>
          </a:p>
        </p:txBody>
      </p:sp>
      <p:sp>
        <p:nvSpPr>
          <p:cNvPr id="83" name="Right Arrow 82"/>
          <p:cNvSpPr/>
          <p:nvPr/>
        </p:nvSpPr>
        <p:spPr>
          <a:xfrm>
            <a:off x="7232903" y="4636008"/>
            <a:ext cx="228600" cy="173736"/>
          </a:xfrm>
          <a:prstGeom prst="rightArrow">
            <a:avLst/>
          </a:prstGeom>
          <a:solidFill>
            <a:srgbClr val="265D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7470648" y="3767328"/>
            <a:ext cx="1554480" cy="2212848"/>
          </a:xfrm>
          <a:prstGeom prst="roundRect">
            <a:avLst/>
          </a:prstGeom>
          <a:solidFill>
            <a:srgbClr val="FAFBFC"/>
          </a:solidFill>
          <a:ln>
            <a:solidFill>
              <a:srgbClr val="265D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470648" y="3767328"/>
            <a:ext cx="1554480" cy="329184"/>
          </a:xfrm>
          <a:prstGeom prst="rect">
            <a:avLst/>
          </a:prstGeom>
          <a:solidFill>
            <a:srgbClr val="1E53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7543800" y="3813048"/>
            <a:ext cx="210312" cy="21031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1E5393"/>
                </a:solidFill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790688" y="3803904"/>
            <a:ext cx="1188719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50" b="1">
                <a:solidFill>
                  <a:srgbClr val="FFFFFF"/>
                </a:solidFill>
              </a:defRPr>
            </a:pPr>
            <a:r>
              <a:t>PACKAGING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607808" y="4178808"/>
            <a:ext cx="12801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60" b="0">
                <a:solidFill>
                  <a:srgbClr val="1C1C1C"/>
                </a:solidFill>
              </a:defRPr>
            </a:pPr>
            <a:r>
              <a:t>Containers are inspected,</a:t>
            </a:r>
            <a:br/>
            <a:r>
              <a:t>stacked and packed</a:t>
            </a:r>
            <a:br/>
            <a:r>
              <a:t>for distribution.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488936" y="5020056"/>
            <a:ext cx="1517904" cy="914400"/>
          </a:xfrm>
          <a:prstGeom prst="rect">
            <a:avLst/>
          </a:prstGeom>
          <a:solidFill>
            <a:srgbClr val="E6E9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580375" y="5495544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5A5A5A"/>
                </a:solidFill>
              </a:defRPr>
            </a:pPr>
            <a:r>
              <a:t>Image placeholder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9281160" y="3767328"/>
            <a:ext cx="2011680" cy="2395728"/>
          </a:xfrm>
          <a:prstGeom prst="roundRect">
            <a:avLst/>
          </a:prstGeom>
          <a:solidFill>
            <a:srgbClr val="FCFCFC"/>
          </a:solidFill>
          <a:ln>
            <a:solidFill>
              <a:srgbClr val="265D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9281160" y="3767328"/>
            <a:ext cx="2011680" cy="329184"/>
          </a:xfrm>
          <a:prstGeom prst="rect">
            <a:avLst/>
          </a:prstGeom>
          <a:solidFill>
            <a:srgbClr val="1E53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372600" y="3803904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FINAL PRODUCT (PPE)</a:t>
            </a:r>
          </a:p>
        </p:txBody>
      </p:sp>
      <p:sp>
        <p:nvSpPr>
          <p:cNvPr id="94" name="Rectangle 93"/>
          <p:cNvSpPr/>
          <p:nvPr/>
        </p:nvSpPr>
        <p:spPr>
          <a:xfrm>
            <a:off x="9326880" y="4178808"/>
            <a:ext cx="1920240" cy="914400"/>
          </a:xfrm>
          <a:prstGeom prst="rect">
            <a:avLst/>
          </a:prstGeom>
          <a:solidFill>
            <a:srgbClr val="E8EC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9418320" y="5184648"/>
            <a:ext cx="17830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40" b="0">
                <a:solidFill>
                  <a:srgbClr val="1E1E1E"/>
                </a:solidFill>
              </a:defRPr>
            </a:pPr>
            <a:r>
              <a:t>• Material: Biodegradable PPE</a:t>
            </a:r>
            <a:br/>
            <a:r>
              <a:t>• Capacity: 650 mL</a:t>
            </a:r>
            <a:br/>
            <a:r>
              <a:t>• Color: Natural / White</a:t>
            </a:r>
            <a:br/>
            <a:r>
              <a:t>• Heat resistance up to 100°C</a:t>
            </a:r>
            <a:br/>
            <a:r>
              <a:t>• Durable &amp; food safe</a:t>
            </a:r>
          </a:p>
        </p:txBody>
      </p:sp>
      <p:sp>
        <p:nvSpPr>
          <p:cNvPr id="96" name="Right Arrow 95"/>
          <p:cNvSpPr/>
          <p:nvPr/>
        </p:nvSpPr>
        <p:spPr>
          <a:xfrm>
            <a:off x="9061704" y="4636008"/>
            <a:ext cx="228600" cy="173736"/>
          </a:xfrm>
          <a:prstGeom prst="rightArrow">
            <a:avLst/>
          </a:prstGeom>
          <a:solidFill>
            <a:srgbClr val="265D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228600" y="6272784"/>
            <a:ext cx="11750040" cy="512064"/>
          </a:xfrm>
          <a:prstGeom prst="roundRect">
            <a:avLst/>
          </a:prstGeom>
          <a:solidFill>
            <a:srgbClr val="F8F9FB"/>
          </a:solidFill>
          <a:ln>
            <a:solidFill>
              <a:srgbClr val="B2B6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343400" y="6309360"/>
            <a:ext cx="34747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80" b="1">
                <a:solidFill>
                  <a:srgbClr val="1F293A"/>
                </a:solidFill>
              </a:defRPr>
            </a:pPr>
            <a:r>
              <a:t>PROCESS COMPARISON SUMMARY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02920" y="6519672"/>
            <a:ext cx="1783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50" b="0">
                <a:solidFill>
                  <a:srgbClr val="1E1E1E"/>
                </a:solidFill>
              </a:defRPr>
            </a:pPr>
            <a:r>
              <a:t>TECHNOLOGY</a:t>
            </a:r>
            <a:br/>
            <a:r>
              <a:t>PLA: Thermoforming</a:t>
            </a:r>
            <a:br/>
            <a:r>
              <a:t>PPE: Injection Moulding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404872" y="6519672"/>
            <a:ext cx="1783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50" b="0">
                <a:solidFill>
                  <a:srgbClr val="1E1E1E"/>
                </a:solidFill>
              </a:defRPr>
            </a:pPr>
            <a:r>
              <a:t>CYCLE TIME (APPROX.)</a:t>
            </a:r>
            <a:br/>
            <a:r>
              <a:t>PLA: 6–8 sec</a:t>
            </a:r>
            <a:br/>
            <a:r>
              <a:t>PPE: 4–6 sec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306824" y="6519672"/>
            <a:ext cx="1783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50" b="0">
                <a:solidFill>
                  <a:srgbClr val="1E1E1E"/>
                </a:solidFill>
              </a:defRPr>
            </a:pPr>
            <a:r>
              <a:t>SCRAP RATE</a:t>
            </a:r>
            <a:br/>
            <a:r>
              <a:t>PLA: ~12%</a:t>
            </a:r>
            <a:br/>
            <a:r>
              <a:t>PPE: ~4%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08776" y="6519672"/>
            <a:ext cx="1783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50" b="0">
                <a:solidFill>
                  <a:srgbClr val="1E1E1E"/>
                </a:solidFill>
              </a:defRPr>
            </a:pPr>
            <a:r>
              <a:t>HEAT RESISTANCE</a:t>
            </a:r>
            <a:br/>
            <a:r>
              <a:t>PLA: ~55°C</a:t>
            </a:r>
            <a:br/>
            <a:r>
              <a:t>PPE: up to 100°C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110728" y="6519672"/>
            <a:ext cx="1783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50" b="0">
                <a:solidFill>
                  <a:srgbClr val="1E1E1E"/>
                </a:solidFill>
              </a:defRPr>
            </a:pPr>
            <a:r>
              <a:t>END-OF-LIFE</a:t>
            </a:r>
            <a:br/>
            <a:r>
              <a:t>PLA: Industrial compostable</a:t>
            </a:r>
            <a:br/>
            <a:r>
              <a:t>PPE: Limited compostability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012680" y="6519672"/>
            <a:ext cx="1783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50" b="0">
                <a:solidFill>
                  <a:srgbClr val="1E1E1E"/>
                </a:solidFill>
              </a:defRPr>
            </a:pPr>
            <a:r>
              <a:t>APPLICATION</a:t>
            </a:r>
            <a:br/>
            <a:r>
              <a:t>Both suitable for takeaway</a:t>
            </a:r>
            <a:br/>
            <a:r>
              <a:t>food packaging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11521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32C4E"/>
                </a:solidFill>
              </a:defRPr>
            </a:pPr>
            <a:r>
              <a:t>COST &amp; ENVIRONMENTAL COMPARISON CHARTS (PLA vs BIODEGRADABLE PPE)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914400"/>
          <a:ext cx="5669280" cy="2743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309360" y="914400"/>
          <a:ext cx="5303520" cy="27432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3840480"/>
            <a:ext cx="4754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 b="1">
                <a:solidFill>
                  <a:srgbClr val="1B5296"/>
                </a:solidFill>
              </a:defRPr>
            </a:pPr>
            <a:r>
              <a:t>Sensitivity Snapshot (Editable Diagram)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251960"/>
            <a:ext cx="2011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232323"/>
                </a:solidFill>
              </a:defRPr>
            </a:pPr>
            <a:r>
              <a:t>Material price (±20%)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0" y="4270248"/>
            <a:ext cx="1810512" cy="164592"/>
          </a:xfrm>
          <a:prstGeom prst="rect">
            <a:avLst/>
          </a:prstGeom>
          <a:solidFill>
            <a:srgbClr val="5584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4251960"/>
            <a:ext cx="1554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2D2D2D"/>
                </a:solidFill>
              </a:defRPr>
            </a:pPr>
            <a:r>
              <a:t>PLA more sensitive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672584"/>
            <a:ext cx="2011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232323"/>
                </a:solidFill>
              </a:defRPr>
            </a:pPr>
            <a:r>
              <a:t>Energy price (±30%)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0" y="4690872"/>
            <a:ext cx="1709928" cy="164592"/>
          </a:xfrm>
          <a:prstGeom prst="rect">
            <a:avLst/>
          </a:prstGeom>
          <a:solidFill>
            <a:srgbClr val="5584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4672584"/>
            <a:ext cx="1554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2D2D2D"/>
                </a:solidFill>
              </a:defRPr>
            </a:pPr>
            <a:r>
              <a:t>PPE more sensitive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093208"/>
            <a:ext cx="2011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232323"/>
                </a:solidFill>
              </a:defRPr>
            </a:pPr>
            <a:r>
              <a:t>Scrap rate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0" y="5111496"/>
            <a:ext cx="1247241" cy="164592"/>
          </a:xfrm>
          <a:prstGeom prst="rect">
            <a:avLst/>
          </a:prstGeom>
          <a:solidFill>
            <a:srgbClr val="5584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5093208"/>
            <a:ext cx="1554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2D2D2D"/>
                </a:solidFill>
              </a:defRPr>
            </a:pPr>
            <a:r>
              <a:t>PLA penalty higher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513832"/>
            <a:ext cx="2011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232323"/>
                </a:solidFill>
              </a:defRPr>
            </a:pPr>
            <a:r>
              <a:t>End-of-life scenario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0" y="5532120"/>
            <a:ext cx="1408176" cy="164592"/>
          </a:xfrm>
          <a:prstGeom prst="rect">
            <a:avLst/>
          </a:prstGeom>
          <a:solidFill>
            <a:srgbClr val="5584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5513832"/>
            <a:ext cx="1554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2D2D2D"/>
                </a:solidFill>
              </a:defRPr>
            </a:pPr>
            <a:r>
              <a:t>PLA depends on composting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934456"/>
            <a:ext cx="2011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232323"/>
                </a:solidFill>
              </a:defRPr>
            </a:pPr>
            <a:r>
              <a:t>Production volume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0" y="5952744"/>
            <a:ext cx="1106424" cy="164592"/>
          </a:xfrm>
          <a:prstGeom prst="rect">
            <a:avLst/>
          </a:prstGeom>
          <a:solidFill>
            <a:srgbClr val="5584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17720" y="5934456"/>
            <a:ext cx="1554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2D2D2D"/>
                </a:solidFill>
              </a:defRPr>
            </a:pPr>
            <a:r>
              <a:t>PPE gains at scale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3840480"/>
            <a:ext cx="5303520" cy="2423160"/>
          </a:xfrm>
          <a:prstGeom prst="roundRect">
            <a:avLst/>
          </a:prstGeom>
          <a:solidFill>
            <a:srgbClr val="FFFFFF"/>
          </a:solidFill>
          <a:ln>
            <a:solidFill>
              <a:srgbClr val="AAB4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4023360"/>
            <a:ext cx="484632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0">
                <a:solidFill>
                  <a:srgbClr val="202020"/>
                </a:solidFill>
              </a:defRPr>
            </a:pPr>
            <a:r>
              <a:t>Key Takeaways</a:t>
            </a:r>
            <a:br/>
            <a:r>
              <a:t>• PPE is economically superior (Total LCC: €54.4 vs €66.3).</a:t>
            </a:r>
            <a:br/>
            <a:r>
              <a:t>• PLA performs better in GWP and energy demand.</a:t>
            </a:r>
            <a:br/>
            <a:r>
              <a:t>• PPE performs better in water use and heat resistance.</a:t>
            </a:r>
            <a:br/>
            <a:r>
              <a:t>• Final choice depends on temperature requirements,</a:t>
            </a:r>
            <a:br/>
            <a:r>
              <a:t>  composting infrastructure, and cost constraints.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400">
                <a:solidFill>
                  <a:srgbClr val="18477A"/>
                </a:solidFill>
              </a:rPr>
              <a:t>WHY WE ARE USING PPE INSTEAD OF PLA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>
                <a:solidFill>
                  <a:srgbClr val="3C3C3C"/>
                </a:solidFill>
              </a:rPr>
              <a:t>Comparison for takeaway food containers (editable table)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600200"/>
          <a:ext cx="11338560" cy="4434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926080"/>
                <a:gridCol w="2926080"/>
                <a:gridCol w="3200400"/>
              </a:tblGrid>
              <a:tr h="492760"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</a:rPr>
                        <a:t>Criteria</a:t>
                      </a:r>
                    </a:p>
                  </a:txBody>
                  <a:tcPr>
                    <a:solidFill>
                      <a:srgbClr val="18477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</a:rPr>
                        <a:t>PLA</a:t>
                      </a:r>
                    </a:p>
                  </a:txBody>
                  <a:tcPr>
                    <a:solidFill>
                      <a:srgbClr val="18477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</a:rPr>
                        <a:t>PPE</a:t>
                      </a:r>
                    </a:p>
                  </a:txBody>
                  <a:tcPr>
                    <a:solidFill>
                      <a:srgbClr val="18477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</a:rPr>
                        <a:t>Why PPE is preferred here</a:t>
                      </a:r>
                    </a:p>
                  </a:txBody>
                  <a:tcPr>
                    <a:solidFill>
                      <a:srgbClr val="18477A"/>
                    </a:solidFill>
                  </a:tcPr>
                </a:tc>
              </a:tr>
              <a:tr h="49276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32323"/>
                          </a:solidFill>
                        </a:rPr>
                        <a:t>Heat resistance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~55°C (softens at higher temperature)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Up to ~100°C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Better for hot meals and transport.</a:t>
                      </a:r>
                    </a:p>
                  </a:txBody>
                  <a:tcPr/>
                </a:tc>
              </a:tr>
              <a:tr h="49276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32323"/>
                          </a:solidFill>
                        </a:rPr>
                        <a:t>Manufacturing process</a:t>
                      </a:r>
                    </a:p>
                  </a:txBody>
                  <a:tcPr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Thermoforming sheet process</a:t>
                      </a:r>
                    </a:p>
                  </a:txBody>
                  <a:tcPr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Injection moulding</a:t>
                      </a:r>
                    </a:p>
                  </a:txBody>
                  <a:tcPr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More robust, repeatable parts at scale.</a:t>
                      </a:r>
                    </a:p>
                  </a:txBody>
                  <a:tcPr>
                    <a:solidFill>
                      <a:srgbClr val="F3F7FC"/>
                    </a:solidFill>
                  </a:tcPr>
                </a:tc>
              </a:tr>
              <a:tr h="49276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32323"/>
                          </a:solidFill>
                        </a:rPr>
                        <a:t>Strength &amp; rigidity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Lower impact strength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Higher toughness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Reduces cracks/leaks during handling.</a:t>
                      </a:r>
                    </a:p>
                  </a:txBody>
                  <a:tcPr/>
                </a:tc>
              </a:tr>
              <a:tr h="49276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32323"/>
                          </a:solidFill>
                        </a:rPr>
                        <a:t>Unit cost (high volume)</a:t>
                      </a:r>
                    </a:p>
                  </a:txBody>
                  <a:tcPr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Material often higher cost</a:t>
                      </a:r>
                    </a:p>
                  </a:txBody>
                  <a:tcPr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Lower overall LCC in this study</a:t>
                      </a:r>
                    </a:p>
                  </a:txBody>
                  <a:tcPr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Improves profitability at mass production.</a:t>
                      </a:r>
                    </a:p>
                  </a:txBody>
                  <a:tcPr>
                    <a:solidFill>
                      <a:srgbClr val="F3F7FC"/>
                    </a:solidFill>
                  </a:tcPr>
                </a:tc>
              </a:tr>
              <a:tr h="49276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32323"/>
                          </a:solidFill>
                        </a:rPr>
                        <a:t>Cycle time/tooling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Stable but design-limited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Fast cycles after tooling setup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Higher throughput for large demand.</a:t>
                      </a:r>
                    </a:p>
                  </a:txBody>
                  <a:tcPr/>
                </a:tc>
              </a:tr>
              <a:tr h="49276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32323"/>
                          </a:solidFill>
                        </a:rPr>
                        <a:t>Food service usage</a:t>
                      </a:r>
                    </a:p>
                  </a:txBody>
                  <a:tcPr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Good for mild-temperature food</a:t>
                      </a:r>
                    </a:p>
                  </a:txBody>
                  <a:tcPr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Better for hot/oily food service</a:t>
                      </a:r>
                    </a:p>
                  </a:txBody>
                  <a:tcPr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Wider usage range in takeaway market.</a:t>
                      </a:r>
                    </a:p>
                  </a:txBody>
                  <a:tcPr>
                    <a:solidFill>
                      <a:srgbClr val="F3F7FC"/>
                    </a:solidFill>
                  </a:tcPr>
                </a:tc>
              </a:tr>
              <a:tr h="49276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32323"/>
                          </a:solidFill>
                        </a:rPr>
                        <a:t>Composting profile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Industrial composting friendly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Limited compostability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PPE selected due to performance/cost trade-off.</a:t>
                      </a:r>
                    </a:p>
                  </a:txBody>
                  <a:tcPr/>
                </a:tc>
              </a:tr>
              <a:tr h="49276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32323"/>
                          </a:solidFill>
                        </a:rPr>
                        <a:t>Final decision for this project</a:t>
                      </a:r>
                    </a:p>
                  </a:txBody>
                  <a:tcPr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Environment-focused baseline</a:t>
                      </a:r>
                    </a:p>
                  </a:txBody>
                  <a:tcPr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Selected option</a:t>
                      </a:r>
                    </a:p>
                  </a:txBody>
                  <a:tcPr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PPE chosen for heat, durability, and lower cost.</a:t>
                      </a:r>
                    </a:p>
                  </a:txBody>
                  <a:tcPr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08076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i="1">
                <a:solidFill>
                  <a:srgbClr val="5A5A5A"/>
                </a:solidFill>
              </a:rPr>
              <a:t>Note: PPE is selected for this case-study objective (hot-food performance + cost). PLA remains stronger on industrial compostability.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400">
                <a:solidFill>
                  <a:srgbClr val="172B4D"/>
                </a:solidFill>
              </a:rPr>
              <a:t>Material Market Share (CORE PART)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363636"/>
                </a:solidFill>
              </a:rPr>
              <a:t>Global Food Packaging Material Split (Indicative, 2025)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02920" y="1325880"/>
          <a:ext cx="5394960" cy="39319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89320" y="1325880"/>
          <a:ext cx="598932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3160"/>
                <a:gridCol w="1051560"/>
                <a:gridCol w="2514600"/>
              </a:tblGrid>
              <a:tr h="685800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Material Type</a:t>
                      </a:r>
                    </a:p>
                  </a:txBody>
                  <a:tcPr>
                    <a:solidFill>
                      <a:srgbClr val="172B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Share (%)</a:t>
                      </a:r>
                    </a:p>
                  </a:txBody>
                  <a:tcPr>
                    <a:solidFill>
                      <a:srgbClr val="172B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Market context</a:t>
                      </a:r>
                    </a:p>
                  </a:txBody>
                  <a:tcPr>
                    <a:solidFill>
                      <a:srgbClr val="172B4D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82828"/>
                          </a:solidFill>
                        </a:rPr>
                        <a:t>Conventional Plastics (PP, PET)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82828"/>
                          </a:solidFill>
                        </a:rPr>
                        <a:t>65–70%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82828"/>
                          </a:solidFill>
                        </a:rPr>
                        <a:t>Dominant due to low cost, strong barrier properties, and scale.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82828"/>
                          </a:solidFill>
                        </a:rPr>
                        <a:t>Paper &amp; Cardboard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82828"/>
                          </a:solidFill>
                        </a:rPr>
                        <a:t>15–20%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82828"/>
                          </a:solidFill>
                        </a:rPr>
                        <a:t>Growing in takeout wraps, cups, sleeves, and secondary packs.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82828"/>
                          </a:solidFill>
                        </a:rPr>
                        <a:t>Bioplastics (PLA, etc.)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82828"/>
                          </a:solidFill>
                        </a:rPr>
                        <a:t>5–8%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82828"/>
                          </a:solidFill>
                        </a:rPr>
                        <a:t>Small base but fastest growth in compostable packaging formats.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82828"/>
                          </a:solidFill>
                        </a:rPr>
                        <a:t>Other Alternatives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82828"/>
                          </a:solidFill>
                        </a:rPr>
                        <a:t>5–7%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82828"/>
                          </a:solidFill>
                        </a:rPr>
                        <a:t>Includes molded fiber, bagasse, aluminum, and glass niches.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5394960"/>
            <a:ext cx="114757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00">
                <a:solidFill>
                  <a:srgbClr val="172B4D"/>
                </a:solidFill>
              </a:rPr>
              <a:t>💡 Key Insight: Bioplastics (PLA) are still a minority share, but expected to grow 2–3x faster than conventional plastics as regulations and ESG targets tighten.</a:t>
            </a:r>
          </a:p>
          <a:p>
            <a:r>
              <a:rPr sz="1100">
                <a:solidFill>
                  <a:srgbClr val="373737"/>
                </a:solidFill>
              </a:rPr>
              <a:t>Primary growth drivers: single-use plastic restrictions, EPR/packaging compliance, and brand-level sustainability commitments.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114757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</a:rPr>
              <a:t>Source note: Indicative synthesis from recent industry analyses (2024–2026) on global food-packaging material mix.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