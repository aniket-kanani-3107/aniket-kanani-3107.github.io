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Life Cycle Engineering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PLA vs. Biodegradable PPE Food Packaging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72237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Course: Life Cycle Engineering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Professor: Paulo Peças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Group Members: ____________________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Date: July 1,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Why this product?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Takeaway containers are high-volume single-use items and a major lever for plastic-waste reduction under EU policy shifts.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13C69"/>
                </a:solidFill>
              </a:defRPr>
            </a:pPr>
            <a:r>
              <a:t>Product Characterization, Alternatives, and Process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864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Functional Unit: 1,000 containers (500–750 mL)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Market Size (EU): 8–10 billion units/year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Requirements: food-safe, heat-resistant, lightweight, low-cost, scalable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PLA: density 1.24 g/cm³ | thermoforming | ~55°C | industrial composting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PPE: density 0.90 g/cm³ | injection moulding | up to 100°C | limited compostability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75745"/>
                </a:solidFill>
              </a:defRPr>
            </a:pPr>
            <a:r>
              <a:t>PLA Process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PLA granulate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6596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Sheet extrusion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39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Thermoforming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Trimming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70430C"/>
                </a:solidFill>
              </a:defRPr>
            </a:pPr>
            <a:r>
              <a:t>PPE Process 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PPE granulate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Injection moulding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Cooling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1772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Ejection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9612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37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Machine Selection: PLA → Thermoforming machine | PPE → Injection moulding machine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531E6B"/>
                </a:solidFill>
              </a:defRPr>
            </a:pPr>
            <a:r>
              <a:t>Core Results: LCC and LCA (per 1,000 containers)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5778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C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LCC Total: PLA = €66.3 | PPE = €54.4  → PPE economically superior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Material: 39.6 vs 22.4 | Energy: 6.5 vs 8.2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Labour: 12 vs 12 | Depreciation: 4 vs 6 | Tooling: 3 vs 5 | Waste: 1.2 vs 0.8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5C217A"/>
                </a:solidFill>
              </a:defRPr>
            </a:pPr>
            <a:r>
              <a:t>LCC Total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54680"/>
            <a:ext cx="2121865" cy="320040"/>
          </a:xfrm>
          <a:prstGeom prst="rect">
            <a:avLst/>
          </a:prstGeom>
          <a:solidFill>
            <a:srgbClr val="8A5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2025" y="3154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66.3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0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30752"/>
            <a:ext cx="1741017" cy="320040"/>
          </a:xfrm>
          <a:prstGeom prst="rect">
            <a:avLst/>
          </a:prstGeom>
          <a:solidFill>
            <a:srgbClr val="628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1177" y="3730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54.4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91440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BAD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430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LCA Highlights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GWP (kg CO₂-eq): PLA 28 vs PPE 34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Energy Demand (MJ): PLA 420 vs PPE 510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Water Use (L): PLA 180 vs PPE 60 (PPE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End-of-life performance depends on composting availability for PLA.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063240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558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Energy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977639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2702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892040"/>
            <a:ext cx="2286000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5184648"/>
            <a:ext cx="761999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5715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C3C3C"/>
                </a:solidFill>
              </a:defRPr>
            </a:pPr>
            <a:r>
              <a:t>Green=PLA  Orange=PPE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100">
                <a:solidFill>
                  <a:srgbClr val="FFFFFF"/>
                </a:solidFill>
              </a:defRPr>
            </a:pPr>
            <a:r>
              <a:t>Sensitivity, Positioning, and Final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6692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Sensitivity Analysis (Professor Required)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is highly sensitive to feedstock/material price (±20%).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is highly sensitive to energy price (±30%).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Higher scrap rates penalize PLA more strongly.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outcome depends on composting infrastructure quality.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gains from large-scale production volumes.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32D3A"/>
                </a:solidFill>
              </a:defRPr>
            </a:pPr>
            <a:r>
              <a:t>Sensitivity Tornado (relative impact)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Material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3977639"/>
            <a:ext cx="2432303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Energy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389120"/>
            <a:ext cx="1920239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End-of-life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4800600"/>
            <a:ext cx="1664207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5212080"/>
            <a:ext cx="1408176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5623560"/>
            <a:ext cx="1280160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914400"/>
            <a:ext cx="493776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C2C2C"/>
                </a:solidFill>
              </a:defRPr>
            </a:pPr>
            <a:r>
              <a:t>Alternatives Mapping (Cost–Environment–Technical)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7040880" y="1691640"/>
            <a:ext cx="3566160" cy="2651760"/>
          </a:xfrm>
          <a:prstGeom prst="triangle">
            <a:avLst/>
          </a:prstGeom>
          <a:solidFill>
            <a:srgbClr val="ECF6EF"/>
          </a:solidFill>
          <a:ln>
            <a:solidFill>
              <a:srgbClr val="5E8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160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Technical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377440"/>
            <a:ext cx="164592" cy="164592"/>
          </a:xfrm>
          <a:prstGeom prst="roundRect">
            <a:avLst/>
          </a:prstGeom>
          <a:solidFill>
            <a:srgbClr val="47A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340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25435"/>
                </a:solidFill>
              </a:defRPr>
            </a:pPr>
            <a:r>
              <a:t>PLA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246120"/>
            <a:ext cx="164592" cy="164592"/>
          </a:xfrm>
          <a:prstGeom prst="roundRect">
            <a:avLst/>
          </a:prstGeom>
          <a:solidFill>
            <a:srgbClr val="E7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321868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D3C22"/>
                </a:solidFill>
              </a:defRPr>
            </a:pPr>
            <a:r>
              <a:t>PPE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5262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Final conclusions: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PLA: best environmental option (if composting is available).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PPE: best economic + technical option (especially hot food).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Recommended for deployment: choose by temperature, waste system, and budget.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