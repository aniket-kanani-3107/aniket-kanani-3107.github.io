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987552"/>
            <a:ext cx="109728" cy="4297680"/>
          </a:xfrm>
          <a:prstGeom prst="rect">
            <a:avLst/>
          </a:prstGeom>
          <a:solidFill>
            <a:srgbClr val="47BE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6583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400">
                <a:solidFill>
                  <a:srgbClr val="FFFFFF"/>
                </a:solidFill>
              </a:rPr>
              <a:t>Introduction to Food Packaging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6492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5F5F5"/>
                </a:solidFill>
              </a:defRPr>
            </a:pPr>
            <a:r>
              <a:t>Food packaging containers store, protect, preserve, and transport food products.</a:t>
            </a:r>
          </a:p>
          <a:p>
            <a:pPr>
              <a:spcAft>
                <a:spcPts val="600"/>
              </a:spcAft>
              <a:defRPr sz="2100">
                <a:solidFill>
                  <a:srgbClr val="F5F5F5"/>
                </a:solidFill>
              </a:defRPr>
            </a:pPr>
            <a:r>
              <a:t>They maintain quality and shelf life while reducing contamination from moisture, air, and microbes.</a:t>
            </a:r>
          </a:p>
          <a:p>
            <a:pPr>
              <a:spcAft>
                <a:spcPts val="600"/>
              </a:spcAft>
              <a:defRPr sz="2100">
                <a:solidFill>
                  <a:srgbClr val="F5F5F5"/>
                </a:solidFill>
              </a:defRPr>
            </a:pPr>
            <a:r>
              <a:t>Main functions include protection, freshness, safer logistics, and clear consumer labeling.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6583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400">
                <a:solidFill>
                  <a:srgbClr val="163963"/>
                </a:solidFill>
              </a:rPr>
              <a:t>Types of Food Containers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88920"/>
            <a:ext cx="2377440" cy="384048"/>
          </a:xfrm>
          <a:prstGeom prst="roundRect">
            <a:avLst/>
          </a:prstGeom>
          <a:solidFill>
            <a:srgbClr val="16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Plastic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54680" y="2788920"/>
            <a:ext cx="2377440" cy="384048"/>
          </a:xfrm>
          <a:prstGeom prst="roundRect">
            <a:avLst/>
          </a:prstGeom>
          <a:solidFill>
            <a:srgbClr val="16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Glass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06440" y="2788920"/>
            <a:ext cx="2377440" cy="384048"/>
          </a:xfrm>
          <a:prstGeom prst="roundRect">
            <a:avLst/>
          </a:prstGeom>
          <a:solidFill>
            <a:srgbClr val="16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Metal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58200" y="2788920"/>
            <a:ext cx="2377440" cy="384048"/>
          </a:xfrm>
          <a:prstGeom prst="roundRect">
            <a:avLst/>
          </a:prstGeom>
          <a:solidFill>
            <a:srgbClr val="16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Paper/Cardboard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42900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E1E1E"/>
                </a:solidFill>
              </a:defRPr>
            </a:pPr>
            <a:r>
              <a:t>• Plastic: lightweight and cost-effective for bottles, dairy, and takeaway packs.</a:t>
            </a:r>
          </a:p>
          <a:p>
            <a:pPr>
              <a:spcAft>
                <a:spcPts val="600"/>
              </a:spcAft>
              <a:defRPr sz="1800">
                <a:solidFill>
                  <a:srgbClr val="1E1E1E"/>
                </a:solidFill>
              </a:defRPr>
            </a:pPr>
            <a:r>
              <a:t>• Glass: non-reactive and flavor-safe for sauces, jams, and beverages.</a:t>
            </a:r>
          </a:p>
          <a:p>
            <a:pPr>
              <a:spcAft>
                <a:spcPts val="600"/>
              </a:spcAft>
              <a:defRPr sz="1800">
                <a:solidFill>
                  <a:srgbClr val="1E1E1E"/>
                </a:solidFill>
              </a:defRPr>
            </a:pPr>
            <a:r>
              <a:t>• Metal: strong barrier for long shelf-life canned foods.</a:t>
            </a:r>
          </a:p>
          <a:p>
            <a:pPr>
              <a:spcAft>
                <a:spcPts val="600"/>
              </a:spcAft>
              <a:defRPr sz="1800">
                <a:solidFill>
                  <a:srgbClr val="1E1E1E"/>
                </a:solidFill>
              </a:defRPr>
            </a:pPr>
            <a:r>
              <a:t>• Paper/Cardboard: biodegradable options for bakery and fast-food packaging.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25813" cy="6858000"/>
          </a:xfrm>
          <a:prstGeom prst="rect">
            <a:avLst/>
          </a:prstGeom>
          <a:solidFill>
            <a:srgbClr val="1C27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25813" y="0"/>
            <a:ext cx="5363138" cy="6858000"/>
          </a:xfrm>
          <a:prstGeom prst="rect">
            <a:avLst/>
          </a:prstGeom>
          <a:solidFill>
            <a:srgbClr val="EC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5943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400">
                <a:solidFill>
                  <a:srgbClr val="FFFFFF"/>
                </a:solidFill>
              </a:rPr>
              <a:t>Advantages and Disadvantages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5943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EEF5FA"/>
                </a:solidFill>
              </a:defRPr>
            </a:pPr>
            <a:r>
              <a:t>Plastic: + Lightweight, cheap | - Pollution risk</a:t>
            </a:r>
          </a:p>
          <a:p>
            <a:pPr>
              <a:spcAft>
                <a:spcPts val="600"/>
              </a:spcAft>
              <a:defRPr sz="1800">
                <a:solidFill>
                  <a:srgbClr val="EEF5FA"/>
                </a:solidFill>
              </a:defRPr>
            </a:pPr>
            <a:r>
              <a:t>Glass: + Reusable, non-toxic | - Heavy, fragile</a:t>
            </a:r>
          </a:p>
          <a:p>
            <a:pPr>
              <a:spcAft>
                <a:spcPts val="600"/>
              </a:spcAft>
              <a:defRPr sz="1800">
                <a:solidFill>
                  <a:srgbClr val="EEF5FA"/>
                </a:solidFill>
              </a:defRPr>
            </a:pPr>
            <a:r>
              <a:t>Metal: + Strong protection, long shelf life | - Cost, corrosion risk</a:t>
            </a:r>
          </a:p>
          <a:p>
            <a:pPr>
              <a:spcAft>
                <a:spcPts val="600"/>
              </a:spcAft>
              <a:defRPr sz="1800">
                <a:solidFill>
                  <a:srgbClr val="EEF5FA"/>
                </a:solidFill>
              </a:defRPr>
            </a:pPr>
            <a:r>
              <a:t>Paper: + Recyclable, eco-friendly | - Lower moisture resistance</a:t>
            </a:r>
          </a:p>
          <a:p>
            <a:pPr>
              <a:spcAft>
                <a:spcPts val="600"/>
              </a:spcAft>
              <a:defRPr sz="1800">
                <a:solidFill>
                  <a:srgbClr val="EEF5FA"/>
                </a:solidFill>
              </a:defRPr>
            </a:pPr>
            <a:r>
              <a:t>Best choice depends on product type, storage time, and sustainability goals.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640080"/>
            <a:ext cx="10881360" cy="54864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47BE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9875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400">
                <a:solidFill>
                  <a:srgbClr val="0E4B39"/>
                </a:solidFill>
              </a:rPr>
              <a:t>Conclusion &amp; Future of Food Packaging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9784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142D26"/>
                </a:solidFill>
              </a:defRPr>
            </a:pPr>
            <a:r>
              <a:t>Food containers are essential for safety, quality, and convenience in modern supply chains.</a:t>
            </a:r>
          </a:p>
          <a:p>
            <a:pPr>
              <a:spcAft>
                <a:spcPts val="600"/>
              </a:spcAft>
              <a:defRPr sz="2200">
                <a:solidFill>
                  <a:srgbClr val="142D26"/>
                </a:solidFill>
              </a:defRPr>
            </a:pPr>
            <a:r>
              <a:t>Future-focused packaging is shifting to biodegradable materials and reusable systems.</a:t>
            </a:r>
          </a:p>
          <a:p>
            <a:pPr>
              <a:spcAft>
                <a:spcPts val="600"/>
              </a:spcAft>
              <a:defRPr sz="2200">
                <a:solidFill>
                  <a:srgbClr val="142D26"/>
                </a:solidFill>
              </a:defRPr>
            </a:pPr>
            <a:r>
              <a:t>Reducing plastic waste is now a major global design and policy priority.</a:t>
            </a:r>
          </a:p>
          <a:p>
            <a:pPr>
              <a:spcAft>
                <a:spcPts val="600"/>
              </a:spcAft>
              <a:defRPr sz="2200">
                <a:solidFill>
                  <a:srgbClr val="142D26"/>
                </a:solidFill>
              </a:defRPr>
            </a:pPr>
            <a:r>
              <a:t>Bonus Tip: Packaging choices directly impact food safety, shelf life, and sustainability.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