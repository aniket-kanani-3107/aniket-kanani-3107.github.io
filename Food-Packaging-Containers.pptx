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LCC Breakdown per 1,000 Containers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 (€)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Material</c:v>
                </c:pt>
                <c:pt idx="1">
                  <c:v>Energy</c:v>
                </c:pt>
                <c:pt idx="2">
                  <c:v>Labour</c:v>
                </c:pt>
                <c:pt idx="3">
                  <c:v>Machine Dep.</c:v>
                </c:pt>
                <c:pt idx="4">
                  <c:v>Tooling</c:v>
                </c:pt>
                <c:pt idx="5">
                  <c:v>Waste</c:v>
                </c:pt>
                <c:pt idx="6">
                  <c:v>Total LCC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39.6</c:v>
                </c:pt>
                <c:pt idx="1">
                  <c:v>6.5</c:v>
                </c:pt>
                <c:pt idx="2">
                  <c:v>12</c:v>
                </c:pt>
                <c:pt idx="3">
                  <c:v>4</c:v>
                </c:pt>
                <c:pt idx="4">
                  <c:v>3</c:v>
                </c:pt>
                <c:pt idx="5">
                  <c:v>1.2</c:v>
                </c:pt>
                <c:pt idx="6">
                  <c:v>66.3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PPE (€)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Material</c:v>
                </c:pt>
                <c:pt idx="1">
                  <c:v>Energy</c:v>
                </c:pt>
                <c:pt idx="2">
                  <c:v>Labour</c:v>
                </c:pt>
                <c:pt idx="3">
                  <c:v>Machine Dep.</c:v>
                </c:pt>
                <c:pt idx="4">
                  <c:v>Tooling</c:v>
                </c:pt>
                <c:pt idx="5">
                  <c:v>Waste</c:v>
                </c:pt>
                <c:pt idx="6">
                  <c:v>Total LCC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22.4</c:v>
                </c:pt>
                <c:pt idx="1">
                  <c:v>8.2</c:v>
                </c:pt>
                <c:pt idx="2">
                  <c:v>12</c:v>
                </c:pt>
                <c:pt idx="3">
                  <c:v>6</c:v>
                </c:pt>
                <c:pt idx="4">
                  <c:v>5</c:v>
                </c:pt>
                <c:pt idx="5">
                  <c:v>0.8</c:v>
                </c:pt>
                <c:pt idx="6">
                  <c:v>54.4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LCA Impact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GWP (kg CO2-eq)</c:v>
                </c:pt>
                <c:pt idx="1">
                  <c:v>Energy Demand (MJ)</c:v>
                </c:pt>
                <c:pt idx="2">
                  <c:v>Water Use (L)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420</c:v>
                </c:pt>
                <c:pt idx="2">
                  <c:v>180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GWP (kg CO2-eq)</c:v>
                </c:pt>
                <c:pt idx="1">
                  <c:v>Energy Demand (MJ)</c:v>
                </c:pt>
                <c:pt idx="2">
                  <c:v>Water Use (L)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510</c:v>
                </c:pt>
                <c:pt idx="2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Conventional Plastics (PP, PET)</c:v>
                </c:pt>
                <c:pt idx="1">
                  <c:v>Paper &amp; Cardboard</c:v>
                </c:pt>
                <c:pt idx="2">
                  <c:v>Bioplastics (PLA, etc.)</c:v>
                </c:pt>
                <c:pt idx="3">
                  <c:v>Other Alternatives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18</c:v>
                </c:pt>
                <c:pt idx="2">
                  <c:v>7</c:v>
                </c:pt>
                <c:pt idx="3">
                  <c:v>7</c:v>
                </c:pt>
              </c:numCache>
            </c:numRef>
          </c:val>
        </c:ser>
        <c:dLbls>
          <c:numFmt formatCode="0%" sourceLinked="0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674BA"/>
              </a:solidFill>
            </c:spPr>
          </c:dPt>
          <c:dPt>
            <c:idx val="1"/>
            <c:spPr>
              <a:solidFill>
                <a:srgbClr val="68A655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cat>
            <c:strRef>
              <c:f>Sheet1!$A$2:$A$5</c:f>
              <c:strCache>
                <c:ptCount val="4"/>
                <c:pt idx="0">
                  <c:v>Conventional Plastics (PP, PET)</c:v>
                </c:pt>
                <c:pt idx="1">
                  <c:v>Paper &amp; Cardboard</c:v>
                </c:pt>
                <c:pt idx="2">
                  <c:v>Bioplastics (PLA, etc.)</c:v>
                </c:pt>
                <c:pt idx="3">
                  <c:v>Other Alternatives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18</c:v>
                </c:pt>
                <c:pt idx="2">
                  <c:v>7</c:v>
                </c:pt>
                <c:pt idx="3">
                  <c:v>7</c:v>
                </c:pt>
              </c:numCache>
            </c:numRef>
          </c:val>
        </c:ser>
        <c:dLbls>
          <c:numFmt formatCode="0%" sourceLinked="0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FFFFF"/>
                </a:solidFill>
              </a:defRPr>
            </a:pPr>
            <a:r>
              <a:t>Life Cycle Engineering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PLA vs. Biodegradable PPE Food Packaging Containers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72237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6583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Course: Life Cycle Engineering 2026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Professor: Paulo Peças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Group Members: ____________________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Date: July 1, 2026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Why this product?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Takeaway containers are high-volume single-use items and a major lever for plastic-waste reduction under EU policy shifts.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13C69"/>
                </a:solidFill>
              </a:defRPr>
            </a:pPr>
            <a:r>
              <a:t>Product Characterization, Alternatives, and Process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548640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CB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Functional Unit: 1,000 containers (500–750 mL)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Market Size (EU): 8–10 billion units/year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Requirements: food-safe, heat-resistant, lightweight, low-cost, scalable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PLA: density 1.24 g/cm³ | thermoforming | ~55°C | industrial composting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PPE: density 0.90 g/cm³ | injection moulding | up to 100°C | limited compostability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75745"/>
                </a:solidFill>
              </a:defRPr>
            </a:pPr>
            <a:r>
              <a:t>PLA Process 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PLA granulate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61848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6596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Sheet extrusion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39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Thermoforming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1772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Trimming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9612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Packaging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817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70430C"/>
                </a:solidFill>
              </a:defRPr>
            </a:pPr>
            <a:r>
              <a:t>PPE Process Chain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PPE granulate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1848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6596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Injection moulding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91839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Cooling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024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1772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Ejection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9612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Packaging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3375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Machine Selection: PLA → Thermoforming machine | PPE → Injection moulding machine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531E6B"/>
                </a:solidFill>
              </a:defRPr>
            </a:pPr>
            <a:r>
              <a:t>Core Results: LCC and LCA (per 1,000 containers)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55778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C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LCC Total: PLA = €66.3 | PPE = €54.4  → PPE economically superior</a:t>
            </a:r>
          </a:p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Material: 39.6 vs 22.4 | Energy: 6.5 vs 8.2</a:t>
            </a:r>
          </a:p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Labour: 12 vs 12 | Depreciation: 4 vs 6 | Tooling: 3 vs 5 | Waste: 1.2 vs 0.8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5C217A"/>
                </a:solidFill>
              </a:defRPr>
            </a:pPr>
            <a:r>
              <a:t>LCC Total Cost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PLA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154680"/>
            <a:ext cx="2121865" cy="320040"/>
          </a:xfrm>
          <a:prstGeom prst="rect">
            <a:avLst/>
          </a:prstGeom>
          <a:solidFill>
            <a:srgbClr val="8A50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2025" y="3154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66.3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307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730752"/>
            <a:ext cx="1741017" cy="320040"/>
          </a:xfrm>
          <a:prstGeom prst="rect">
            <a:avLst/>
          </a:prstGeom>
          <a:solidFill>
            <a:srgbClr val="628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1177" y="37307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54.4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914400"/>
            <a:ext cx="53035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BAD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1430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LCA Highlights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GWP (kg CO₂-eq): PLA 28 vs PPE 34 (PLA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Energy Demand (MJ): PLA 420 vs PPE 510 (PLA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Water Use (L): PLA 180 vs PPE 60 (PPE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End-of-life performance depends on composting availability for PLA.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63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063240"/>
            <a:ext cx="1882588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55848"/>
            <a:ext cx="2286000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Energy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977639"/>
            <a:ext cx="1882588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4270248"/>
            <a:ext cx="2286000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8920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Water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4892040"/>
            <a:ext cx="2286000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06640" y="5184648"/>
            <a:ext cx="761999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5715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C3C3C"/>
                </a:solidFill>
              </a:defRPr>
            </a:pPr>
            <a:r>
              <a:t>Green=PLA  Orange=PPE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100">
                <a:solidFill>
                  <a:srgbClr val="FFFFFF"/>
                </a:solidFill>
              </a:defRPr>
            </a:pPr>
            <a:r>
              <a:t>Sensitivity, Positioning, and Final 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66928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Sensitivity Analysis (Professor Required)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PLA is highly sensitive to feedstock/material price (±20%).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PPE is highly sensitive to energy price (±30%).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Higher scrap rates penalize PLA more strongly.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PLA outcome depends on composting infrastructure quality.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PPE gains from large-scale production volumes.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32D3A"/>
                </a:solidFill>
              </a:defRPr>
            </a:pPr>
            <a:r>
              <a:t>Sensitivity Tornado (relative impact)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Material 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3977639"/>
            <a:ext cx="2432303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Energy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4389120"/>
            <a:ext cx="1920239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End-of-life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4800600"/>
            <a:ext cx="1664207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Scrap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5212080"/>
            <a:ext cx="1408176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5623560"/>
            <a:ext cx="1280160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914400"/>
            <a:ext cx="493776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114300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C2C2C"/>
                </a:solidFill>
              </a:defRPr>
            </a:pPr>
            <a:r>
              <a:t>Alternatives Mapping (Cost–Environment–Technical)</a:t>
            </a:r>
          </a:p>
        </p:txBody>
      </p:sp>
      <p:sp>
        <p:nvSpPr>
          <p:cNvPr id="19" name="Isosceles Triangle 18"/>
          <p:cNvSpPr/>
          <p:nvPr/>
        </p:nvSpPr>
        <p:spPr>
          <a:xfrm>
            <a:off x="7040880" y="1691640"/>
            <a:ext cx="3566160" cy="2651760"/>
          </a:xfrm>
          <a:prstGeom prst="triangle">
            <a:avLst/>
          </a:prstGeom>
          <a:solidFill>
            <a:srgbClr val="ECF6EF"/>
          </a:solidFill>
          <a:ln>
            <a:solidFill>
              <a:srgbClr val="5E8E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6642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160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Technical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2377440"/>
            <a:ext cx="164592" cy="164592"/>
          </a:xfrm>
          <a:prstGeom prst="roundRect">
            <a:avLst/>
          </a:prstGeom>
          <a:solidFill>
            <a:srgbClr val="47A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340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25435"/>
                </a:solidFill>
              </a:defRPr>
            </a:pPr>
            <a:r>
              <a:t>PLA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246120"/>
            <a:ext cx="164592" cy="164592"/>
          </a:xfrm>
          <a:prstGeom prst="roundRect">
            <a:avLst/>
          </a:prstGeom>
          <a:solidFill>
            <a:srgbClr val="E7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7152" y="321868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6D3C22"/>
                </a:solidFill>
              </a:defRPr>
            </a:pPr>
            <a:r>
              <a:t>PPE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52628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Final conclusions: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PLA: best environmental option (if composting is available).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PPE: best economic + technical option (especially hot food).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Recommended for deployment: choose by temperature, waste system, and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32C4E"/>
                </a:solidFill>
              </a:defRPr>
            </a:pPr>
            <a:r>
              <a:t>MANUFACTURING PROCESS – TAKEAWAY FOOD CONTAINER (650 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96D2C"/>
                </a:solidFill>
              </a:defRPr>
            </a:pPr>
            <a:r>
              <a:t>PROCESS 1: PLA – THERMOFORMING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PLA GRANULATE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PLA resin pellets</a:t>
            </a:r>
            <a:br/>
            <a:r>
              <a:t>used as raw material.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801368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39112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39112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12264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2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SHEET EXTRUSION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PLA granulate is melted</a:t>
            </a:r>
            <a:br/>
            <a:r>
              <a:t>and extruded into</a:t>
            </a:r>
            <a:br/>
            <a:r>
              <a:t>continuous sheets.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611879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49624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9624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22776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663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THERMOFORMING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6784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Heated PLA sheet is</a:t>
            </a:r>
            <a:br/>
            <a:r>
              <a:t>formed into container</a:t>
            </a:r>
            <a:br/>
            <a:r>
              <a:t>shape using vacuum</a:t>
            </a:r>
            <a:br/>
            <a:r>
              <a:t>forming.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67911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9352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422392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0136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0136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33288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0175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TRIMMING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7296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Excess material (flange)</a:t>
            </a:r>
            <a:br/>
            <a:r>
              <a:t>is trimmed to final</a:t>
            </a:r>
            <a:br/>
            <a:r>
              <a:t>container shape.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78423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69864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232903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470648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70648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543800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90688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PACKAGING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07808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Containers are stacked</a:t>
            </a:r>
            <a:br/>
            <a:r>
              <a:t>and packed for</a:t>
            </a:r>
            <a:br/>
            <a:r>
              <a:t>distribution.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88936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0375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81160" y="896112"/>
            <a:ext cx="2011680" cy="2395728"/>
          </a:xfrm>
          <a:prstGeom prst="roundRect">
            <a:avLst/>
          </a:prstGeom>
          <a:solidFill>
            <a:srgbClr val="FCFC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81160" y="896112"/>
            <a:ext cx="20116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72600" y="932688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FINAL PRODUCT (PLA)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1307592"/>
            <a:ext cx="1920240" cy="914400"/>
          </a:xfrm>
          <a:prstGeom prst="rect">
            <a:avLst/>
          </a:prstGeom>
          <a:solidFill>
            <a:srgbClr val="E7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18320" y="2313432"/>
            <a:ext cx="1783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40" b="0">
                <a:solidFill>
                  <a:srgbClr val="1E1E1E"/>
                </a:solidFill>
              </a:defRPr>
            </a:pPr>
            <a:r>
              <a:t>• Material: PLA (Thermoformed)</a:t>
            </a:r>
            <a:br/>
            <a:r>
              <a:t>• Capacity: 650 mL</a:t>
            </a:r>
            <a:br/>
            <a:r>
              <a:t>• Color: Natural / Beige</a:t>
            </a:r>
            <a:br/>
            <a:r>
              <a:t>• Lightweight &amp; compostable</a:t>
            </a:r>
            <a:br/>
            <a:r>
              <a:t>• Suitable up to ~55°C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9061704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" y="3410712"/>
            <a:ext cx="11978640" cy="18288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8600" y="352044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B5296"/>
                </a:solidFill>
              </a:defRPr>
            </a:pPr>
            <a:r>
              <a:t>PROCESS 2: BIODEGRADABLE PPE – INJECTION MOULDING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8600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8600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01752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PPE GRANULATE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Biodegradable PPE</a:t>
            </a:r>
            <a:br/>
            <a:r>
              <a:t>pellets used as</a:t>
            </a:r>
            <a:br/>
            <a:r>
              <a:t>raw material.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6888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8328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801368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039112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39112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112264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59152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INJECTION MOULDING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76272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Pellets are melted and</a:t>
            </a:r>
            <a:br/>
            <a:r>
              <a:t>injected into mould</a:t>
            </a:r>
            <a:br/>
            <a:r>
              <a:t>cavity under pressure.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57400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48840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3611879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849624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49624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3922776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69663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COOLING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4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Mould is cooled to</a:t>
            </a:r>
            <a:br/>
            <a:r>
              <a:t>solidify the container</a:t>
            </a:r>
            <a:br/>
            <a:r>
              <a:t>shape.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867911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59352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5422392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660136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0136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733288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80175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EJECTION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97296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 is ejected</a:t>
            </a:r>
            <a:br/>
            <a:r>
              <a:t>from the mould.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78423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69864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232903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70648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470648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543800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0688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PACKAGING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07808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Containers are inspected,</a:t>
            </a:r>
            <a:br/>
            <a:r>
              <a:t>stacked and packed</a:t>
            </a:r>
            <a:br/>
            <a:r>
              <a:t>for distribution.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488936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0375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281160" y="3767328"/>
            <a:ext cx="2011680" cy="2395728"/>
          </a:xfrm>
          <a:prstGeom prst="roundRect">
            <a:avLst/>
          </a:prstGeom>
          <a:solidFill>
            <a:srgbClr val="FCFC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281160" y="3767328"/>
            <a:ext cx="20116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72600" y="3803904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FINAL PRODUCT (PPE)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6880" y="4178808"/>
            <a:ext cx="1920240" cy="9144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18320" y="5184648"/>
            <a:ext cx="1783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40" b="0">
                <a:solidFill>
                  <a:srgbClr val="1E1E1E"/>
                </a:solidFill>
              </a:defRPr>
            </a:pPr>
            <a:r>
              <a:t>• Material: Biodegradable PPE</a:t>
            </a:r>
            <a:br/>
            <a:r>
              <a:t>• Capacity: 650 mL</a:t>
            </a:r>
            <a:br/>
            <a:r>
              <a:t>• Color: Natural / White</a:t>
            </a:r>
            <a:br/>
            <a:r>
              <a:t>• Heat resistance up to 100°C</a:t>
            </a:r>
            <a:br/>
            <a:r>
              <a:t>• Durable &amp; food safe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9061704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228600" y="6272784"/>
            <a:ext cx="11750040" cy="512064"/>
          </a:xfrm>
          <a:prstGeom prst="roundRect">
            <a:avLst/>
          </a:prstGeom>
          <a:solidFill>
            <a:srgbClr val="F8F9FB"/>
          </a:solidFill>
          <a:ln>
            <a:solidFill>
              <a:srgbClr val="B2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43400" y="6309360"/>
            <a:ext cx="3474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80" b="1">
                <a:solidFill>
                  <a:srgbClr val="1F293A"/>
                </a:solidFill>
              </a:defRPr>
            </a:pPr>
            <a:r>
              <a:t>PROCESS COMPARISON SUMMARY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TECHNOLOGY</a:t>
            </a:r>
            <a:br/>
            <a:r>
              <a:t>PLA: Thermoforming</a:t>
            </a:r>
            <a:br/>
            <a:r>
              <a:t>PPE: Injection Moulding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04872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CYCLE TIME (APPROX.)</a:t>
            </a:r>
            <a:br/>
            <a:r>
              <a:t>PLA: 6–8 sec</a:t>
            </a:r>
            <a:br/>
            <a:r>
              <a:t>PPE: 4–6 sec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06824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SCRAP RATE</a:t>
            </a:r>
            <a:br/>
            <a:r>
              <a:t>PLA: ~12%</a:t>
            </a:r>
            <a:br/>
            <a:r>
              <a:t>PPE: ~4%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08776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HEAT RESISTANCE</a:t>
            </a:r>
            <a:br/>
            <a:r>
              <a:t>PLA: ~55°C</a:t>
            </a:r>
            <a:br/>
            <a:r>
              <a:t>PPE: up to 100°C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10728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END-OF-LIFE</a:t>
            </a:r>
            <a:br/>
            <a:r>
              <a:t>PLA: Industrial compostable</a:t>
            </a:r>
            <a:br/>
            <a:r>
              <a:t>PPE: Limited compostability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12680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APPLICATION</a:t>
            </a:r>
            <a:br/>
            <a:r>
              <a:t>Both suitable for takeaway</a:t>
            </a:r>
            <a:br/>
            <a:r>
              <a:t>food packaging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521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32C4E"/>
                </a:solidFill>
              </a:defRPr>
            </a:pPr>
            <a:r>
              <a:t>COST &amp; ENVIRONMENTAL COMPARISON CHARTS (PLA vs BIODEGRADABLE PPE)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914400"/>
          <a:ext cx="56692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0" y="914400"/>
          <a:ext cx="530352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40480"/>
            <a:ext cx="4754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B5296"/>
                </a:solidFill>
              </a:defRPr>
            </a:pPr>
            <a:r>
              <a:t>Sensitivity Snapshot (Editable Diagram)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5196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Material price (±20%)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4270248"/>
            <a:ext cx="1810512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more sensitive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72584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Energy price (±30%)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4690872"/>
            <a:ext cx="1709928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672584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PPE more sensitive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93208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Scrap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5111496"/>
            <a:ext cx="1247241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509320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penalty higher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13832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End-of-life scenario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5532120"/>
            <a:ext cx="1408176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5513832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depends on composting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934456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Production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5952744"/>
            <a:ext cx="1106424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934456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PPE gains at scale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840480"/>
            <a:ext cx="53035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AAB4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023360"/>
            <a:ext cx="48463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02020"/>
                </a:solidFill>
              </a:defRPr>
            </a:pPr>
            <a:r>
              <a:t>Key Takeaways</a:t>
            </a:r>
            <a:br/>
            <a:r>
              <a:t>• PPE is economically superior (Total LCC: €54.4 vs €66.3).</a:t>
            </a:r>
            <a:br/>
            <a:r>
              <a:t>• PLA performs better in GWP and energy demand.</a:t>
            </a:r>
            <a:br/>
            <a:r>
              <a:t>• PPE performs better in water use and heat resistance.</a:t>
            </a:r>
            <a:br/>
            <a:r>
              <a:t>• Final choice depends on temperature requirements,</a:t>
            </a:r>
            <a:br/>
            <a:r>
              <a:t>  composting infrastructure, and cost constraints.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8477A"/>
                </a:solidFill>
              </a:rPr>
              <a:t>WHY WE ARE USING PPE INSTEAD OF PLA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3C3C3C"/>
                </a:solidFill>
              </a:rPr>
              <a:t>Comparison for takeaway food containers (editable table)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00200"/>
          <a:ext cx="1133856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26080"/>
                <a:gridCol w="2926080"/>
                <a:gridCol w="3200400"/>
              </a:tblGrid>
              <a:tr h="49276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Criteria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PLA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PPE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Why PPE is preferred here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Heat resistance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~55°C (softens at higher temperature)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Up to ~100°C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Better for hot meals and transport.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Manufacturing process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Thermoforming sheet process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Injection moulding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More robust, repeatable parts at scale.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Strength &amp; rigidity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Lower impact strength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Higher toughness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Reduces cracks/leaks during handling.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Unit cost (high volume)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Material often higher cost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Lower overall LCC in this study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Improves profitability at mass production.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Cycle time/tooling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Stable but design-limited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Fast cycles after tooling setup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Higher throughput for large demand.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Food service usage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Good for mild-temperature food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Better for hot/oily food service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Wider usage range in takeaway market.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Composting profile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Industrial composting friendly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Limited compostability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PPE selected due to performance/cost trade-off.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Final decision for this project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Environment-focused baseline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Selected option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PPE chosen for heat, durability, and lower cost.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A5A5A"/>
                </a:solidFill>
              </a:rPr>
              <a:t>Note: PPE is selected for this case-study objective (hot-food performance + cost). PLA remains stronger on industrial compostability.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72B4D"/>
                </a:solidFill>
              </a:rPr>
              <a:t>Material Market Share (CORE PART)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63636"/>
                </a:solidFill>
              </a:rPr>
              <a:t>Global Food Packaging Material Split (Indicative, 2025)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325880"/>
          <a:ext cx="539496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325880"/>
          <a:ext cx="59893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051560"/>
                <a:gridCol w="25146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Material Type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Share (%)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Market context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Conventional Plastics (PP, PET)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82828"/>
                          </a:solidFill>
                        </a:rPr>
                        <a:t>65–70%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Dominant due to low cost, strong barrier properties, and scale.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Paper &amp; Cardboard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82828"/>
                          </a:solidFill>
                        </a:rPr>
                        <a:t>15–20%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Growing in takeout wraps, cups, sleeves, and secondary packs.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Bioplastics (PLA, etc.)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82828"/>
                          </a:solidFill>
                        </a:rPr>
                        <a:t>5–8%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Small base but fastest growth in compostable packaging formats.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Other Alternatives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82828"/>
                          </a:solidFill>
                        </a:rPr>
                        <a:t>5–7%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Includes molded fiber, bagasse, aluminum, and glass niches.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394960"/>
            <a:ext cx="11475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72B4D"/>
                </a:solidFill>
              </a:rPr>
              <a:t>💡 Key Insight: Bioplastics (PLA) are still a minority share, but expected to grow 2–3x faster than conventional plastics as regulations and ESG targets tighten.</a:t>
            </a:r>
          </a:p>
          <a:p>
            <a:r>
              <a:rPr sz="1100">
                <a:solidFill>
                  <a:srgbClr val="373737"/>
                </a:solidFill>
              </a:rPr>
              <a:t>Primary growth drivers: single-use plastic restrictions, EPR/packaging compliance, and brand-level sustainability commitments.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475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</a:rPr>
              <a:t>Source note: Indicative synthesis from recent industry analyses (2024–2026) on global food-packaging material mix.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7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3000">
                <a:solidFill>
                  <a:srgbClr val="172B4D"/>
                </a:solidFill>
              </a:rPr>
              <a:t>Design Cost Analysis: PLA vs. Biodegradable PPE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A5A5A"/>
                </a:solidFill>
              </a:rPr>
              <a:t>Scope: Design-phase costs only  ·  Excludes raw-material procurement, production tooling wear, and manufacturing overheads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70432"/>
          <a:ext cx="1115568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2926080"/>
                <a:gridCol w="2926080"/>
              </a:tblGrid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Design Cost Component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PLA (Thermoformed)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Biodegradable PPE
(Injection Moulded)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</a:rPr>
                        <a:t>CAD / 3D Modelling
(~20 hrs PLA  /  ~28 hrs PPE  ×  €45/hr)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A73E8"/>
                          </a:solidFill>
                        </a:rPr>
                        <a:t>€  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4A853"/>
                          </a:solidFill>
                        </a:rPr>
                        <a:t>€ 1,260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</a:rPr>
                        <a:t>Design Software License
(SolidWorks / Fusion 360 — prorated per project)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A73E8"/>
                          </a:solidFill>
                        </a:rPr>
                        <a:t>€  350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4A853"/>
                          </a:solidFill>
                        </a:rPr>
                        <a:t>€    350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</a:rPr>
                        <a:t>Engineering Design Review
(~5 hrs  ×  €60/hr  —  DfM, tolerances, wall checks)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A73E8"/>
                          </a:solidFill>
                        </a:rPr>
                        <a:t>€  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4A853"/>
                          </a:solidFill>
                        </a:rPr>
                        <a:t>€    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</a:rPr>
                        <a:t>Tooling / Die Design
(Thermoforming die sketch  vs.  Injection-mould cavity layout)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A73E8"/>
                          </a:solidFill>
                        </a:rPr>
                        <a:t>€ 1,200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4A853"/>
                          </a:solidFill>
                        </a:rPr>
                        <a:t>€  4,500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</a:rPr>
                        <a:t>Mould-Flow / FEA Simulation
(Filling, cooling &amp; warpage  —  only required for 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A73E8"/>
                          </a:solidFill>
                        </a:rPr>
                        <a:t>€    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4A853"/>
                          </a:solidFill>
                        </a:rPr>
                        <a:t>€    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</a:rPr>
                        <a:t>Rapid Prototype (3D-print verification)
(1 unit  ×  ~€120 material + machine time)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A73E8"/>
                          </a:solidFill>
                        </a:rPr>
                        <a:t>€  120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4A853"/>
                          </a:solidFill>
                        </a:rPr>
                        <a:t>€    120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</a:rPr>
                        <a:t>Design Iteration &amp; Revision Rounds
(~3 rounds avg.  ×  €80 / round)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A73E8"/>
                          </a:solidFill>
                        </a:rPr>
                        <a:t>€  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4A853"/>
                          </a:solidFill>
                        </a:rPr>
                        <a:t>€    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</a:rPr>
                        <a:t>IP / Patent Prior-Art Search
(1-off desktop search, parallelised across both)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A73E8"/>
                          </a:solidFill>
                        </a:rPr>
                        <a:t>€  150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4A853"/>
                          </a:solidFill>
                        </a:rPr>
                        <a:t>€    150</a:t>
                      </a:r>
                    </a:p>
                  </a:txBody>
                  <a:tcPr>
                    <a:solidFill>
                      <a:srgbClr val="EAEFF8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TOTAL DESIGN COST (per container SKU)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€ 3,260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€  7,720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916168"/>
            <a:ext cx="11155680" cy="685800"/>
          </a:xfrm>
          <a:prstGeom prst="rect">
            <a:avLst/>
          </a:prstGeom>
          <a:solidFill>
            <a:srgbClr val="EB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72B4D"/>
                </a:solidFill>
              </a:rPr>
              <a:t>💡  Key Takeaway:  PPE injection moulding design is ~2.4× more expensive to design than PLA thermoforming, driven primarily by complex mould-cavity layout and mandatory mould-flow simulation.  However, the mould design is a one-time capital cost amortised over high-volume production runs.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17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