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LCC Breakdown per 1,000 Containers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 (€)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Material</c:v>
                </c:pt>
                <c:pt idx="1">
                  <c:v>Energy</c:v>
                </c:pt>
                <c:pt idx="2">
                  <c:v>Labour</c:v>
                </c:pt>
                <c:pt idx="3">
                  <c:v>Machine Dep.</c:v>
                </c:pt>
                <c:pt idx="4">
                  <c:v>Tooling</c:v>
                </c:pt>
                <c:pt idx="5">
                  <c:v>Waste</c:v>
                </c:pt>
                <c:pt idx="6">
                  <c:v>Total LCC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39.6</c:v>
                </c:pt>
                <c:pt idx="1">
                  <c:v>6.5</c:v>
                </c:pt>
                <c:pt idx="2">
                  <c:v>12</c:v>
                </c:pt>
                <c:pt idx="3">
                  <c:v>4</c:v>
                </c:pt>
                <c:pt idx="4">
                  <c:v>3</c:v>
                </c:pt>
                <c:pt idx="5">
                  <c:v>1.2</c:v>
                </c:pt>
                <c:pt idx="6">
                  <c:v>66.3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 (€)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Material</c:v>
                </c:pt>
                <c:pt idx="1">
                  <c:v>Energy</c:v>
                </c:pt>
                <c:pt idx="2">
                  <c:v>Labour</c:v>
                </c:pt>
                <c:pt idx="3">
                  <c:v>Machine Dep.</c:v>
                </c:pt>
                <c:pt idx="4">
                  <c:v>Tooling</c:v>
                </c:pt>
                <c:pt idx="5">
                  <c:v>Waste</c:v>
                </c:pt>
                <c:pt idx="6">
                  <c:v>Total LCC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22.4</c:v>
                </c:pt>
                <c:pt idx="1">
                  <c:v>8.2</c:v>
                </c:pt>
                <c:pt idx="2">
                  <c:v>12</c:v>
                </c:pt>
                <c:pt idx="3">
                  <c:v>6</c:v>
                </c:pt>
                <c:pt idx="4">
                  <c:v>5</c:v>
                </c:pt>
                <c:pt idx="5">
                  <c:v>0.8</c:v>
                </c:pt>
                <c:pt idx="6">
                  <c:v>54.4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LCA Impact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GWP (kg CO2-eq)</c:v>
                </c:pt>
                <c:pt idx="1">
                  <c:v>Energy Demand (MJ)</c:v>
                </c:pt>
                <c:pt idx="2">
                  <c:v>Water Use (L)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420</c:v>
                </c:pt>
                <c:pt idx="2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GWP (kg CO2-eq)</c:v>
                </c:pt>
                <c:pt idx="1">
                  <c:v>Energy Demand (MJ)</c:v>
                </c:pt>
                <c:pt idx="2">
                  <c:v>Water Use (L)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</c:v>
                </c:pt>
                <c:pt idx="1">
                  <c:v>510</c:v>
                </c:pt>
                <c:pt idx="2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FFFFFF"/>
                </a:solidFill>
              </a:defRPr>
            </a:pPr>
            <a:r>
              <a:t>Life Cycle Engineering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PLA vs. Biodegradable PPE Food Packaging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72237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6583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62535"/>
                </a:solidFill>
              </a:defRPr>
            </a:pPr>
            <a:r>
              <a:t>Course: Life Cycle Engineering 2026</a:t>
            </a:r>
          </a:p>
          <a:p>
            <a:pPr>
              <a:spcAft>
                <a:spcPts val="400"/>
              </a:spcAft>
              <a:defRPr sz="2000">
                <a:solidFill>
                  <a:srgbClr val="162535"/>
                </a:solidFill>
              </a:defRPr>
            </a:pPr>
            <a:r>
              <a:t>Professor: Paulo Peças</a:t>
            </a:r>
          </a:p>
          <a:p>
            <a:pPr>
              <a:spcAft>
                <a:spcPts val="400"/>
              </a:spcAft>
              <a:defRPr sz="2000">
                <a:solidFill>
                  <a:srgbClr val="162535"/>
                </a:solidFill>
              </a:defRPr>
            </a:pPr>
            <a:r>
              <a:t>Group Members: ____________________</a:t>
            </a:r>
          </a:p>
          <a:p>
            <a:pPr>
              <a:spcAft>
                <a:spcPts val="400"/>
              </a:spcAft>
              <a:defRPr sz="2000">
                <a:solidFill>
                  <a:srgbClr val="162535"/>
                </a:solidFill>
              </a:defRPr>
            </a:pPr>
            <a:r>
              <a:t>Date: July 1, 2026</a:t>
            </a:r>
          </a:p>
          <a:p>
            <a:pPr>
              <a:spcAft>
                <a:spcPts val="400"/>
              </a:spcAft>
              <a:defRPr sz="2000">
                <a:solidFill>
                  <a:srgbClr val="162535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62535"/>
                </a:solidFill>
              </a:defRPr>
            </a:pPr>
            <a:r>
              <a:t>Why this product?</a:t>
            </a:r>
          </a:p>
          <a:p>
            <a:pPr>
              <a:spcAft>
                <a:spcPts val="400"/>
              </a:spcAft>
              <a:defRPr sz="2000">
                <a:solidFill>
                  <a:srgbClr val="162535"/>
                </a:solidFill>
              </a:defRPr>
            </a:pPr>
            <a:r>
              <a:t>Takeaway containers are high-volume single-use items and a major lever for plastic-waste reduction under EU policy shifts.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13C69"/>
                </a:solidFill>
              </a:defRPr>
            </a:pPr>
            <a:r>
              <a:t>Product Characterization, Alternatives, and Process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4864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E3A"/>
                </a:solidFill>
              </a:defRPr>
            </a:pPr>
            <a:r>
              <a:t>• Functional Unit: 1,000 containers (500–750 mL)</a:t>
            </a:r>
          </a:p>
          <a:p>
            <a:pPr>
              <a:spcAft>
                <a:spcPts val="400"/>
              </a:spcAft>
              <a:defRPr sz="1400">
                <a:solidFill>
                  <a:srgbClr val="222E3A"/>
                </a:solidFill>
              </a:defRPr>
            </a:pPr>
            <a:r>
              <a:t>• Market Size (EU): 8–10 billion units/year</a:t>
            </a:r>
          </a:p>
          <a:p>
            <a:pPr>
              <a:spcAft>
                <a:spcPts val="400"/>
              </a:spcAft>
              <a:defRPr sz="1400">
                <a:solidFill>
                  <a:srgbClr val="222E3A"/>
                </a:solidFill>
              </a:defRPr>
            </a:pPr>
            <a:r>
              <a:t>• Requirements: food-safe, heat-resistant, lightweight, low-cost, scalable</a:t>
            </a:r>
          </a:p>
          <a:p>
            <a:pPr>
              <a:spcAft>
                <a:spcPts val="400"/>
              </a:spcAft>
              <a:defRPr sz="1400">
                <a:solidFill>
                  <a:srgbClr val="222E3A"/>
                </a:solidFill>
              </a:defRPr>
            </a:pPr>
            <a:r>
              <a:t>• PLA: density 1.24 g/cm³ | thermoforming | ~55°C | industrial composting</a:t>
            </a:r>
          </a:p>
          <a:p>
            <a:pPr>
              <a:spcAft>
                <a:spcPts val="400"/>
              </a:spcAft>
              <a:defRPr sz="1400">
                <a:solidFill>
                  <a:srgbClr val="222E3A"/>
                </a:solidFill>
              </a:defRPr>
            </a:pPr>
            <a:r>
              <a:t>• PPE: density 0.90 g/cm³ | injection moulding | up to 100°C | limited compostability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75745"/>
                </a:solidFill>
              </a:defRPr>
            </a:pPr>
            <a:r>
              <a:t>PLA Process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960120" cy="502920"/>
          </a:xfrm>
          <a:prstGeom prst="roundRect">
            <a:avLst/>
          </a:prstGeom>
          <a:solidFill>
            <a:srgbClr val="DBF2EB"/>
          </a:solidFill>
          <a:ln>
            <a:solidFill>
              <a:srgbClr val="52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PLA granulate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8488" y="4169663"/>
            <a:ext cx="320040" cy="91440"/>
          </a:xfrm>
          <a:prstGeom prst="rect">
            <a:avLst/>
          </a:prstGeom>
          <a:solidFill>
            <a:srgbClr val="52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3977639"/>
            <a:ext cx="960120" cy="502920"/>
          </a:xfrm>
          <a:prstGeom prst="roundRect">
            <a:avLst/>
          </a:prstGeom>
          <a:solidFill>
            <a:srgbClr val="DBF2EB"/>
          </a:solidFill>
          <a:ln>
            <a:solidFill>
              <a:srgbClr val="52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Sheet extrusion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4169663"/>
            <a:ext cx="320040" cy="91440"/>
          </a:xfrm>
          <a:prstGeom prst="rect">
            <a:avLst/>
          </a:prstGeom>
          <a:solidFill>
            <a:srgbClr val="52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39" y="3977639"/>
            <a:ext cx="960120" cy="502920"/>
          </a:xfrm>
          <a:prstGeom prst="roundRect">
            <a:avLst/>
          </a:prstGeom>
          <a:solidFill>
            <a:srgbClr val="DBF2EB"/>
          </a:solidFill>
          <a:ln>
            <a:solidFill>
              <a:srgbClr val="52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Thermoforming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4169663"/>
            <a:ext cx="320040" cy="91440"/>
          </a:xfrm>
          <a:prstGeom prst="rect">
            <a:avLst/>
          </a:prstGeom>
          <a:solidFill>
            <a:srgbClr val="52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3977639"/>
            <a:ext cx="960120" cy="502920"/>
          </a:xfrm>
          <a:prstGeom prst="roundRect">
            <a:avLst/>
          </a:prstGeom>
          <a:solidFill>
            <a:srgbClr val="DBF2EB"/>
          </a:solidFill>
          <a:ln>
            <a:solidFill>
              <a:srgbClr val="52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Trimming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4169663"/>
            <a:ext cx="320040" cy="91440"/>
          </a:xfrm>
          <a:prstGeom prst="rect">
            <a:avLst/>
          </a:prstGeom>
          <a:solidFill>
            <a:srgbClr val="52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3977639"/>
            <a:ext cx="960120" cy="502920"/>
          </a:xfrm>
          <a:prstGeom prst="roundRect">
            <a:avLst/>
          </a:prstGeom>
          <a:solidFill>
            <a:srgbClr val="DBF2EB"/>
          </a:solidFill>
          <a:ln>
            <a:solidFill>
              <a:srgbClr val="52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Packaging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817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70430C"/>
                </a:solidFill>
              </a:defRPr>
            </a:pPr>
            <a:r>
              <a:t>PPE Process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960120" cy="502920"/>
          </a:xfrm>
          <a:prstGeom prst="roundRect">
            <a:avLst/>
          </a:prstGeom>
          <a:solidFill>
            <a:srgbClr val="FFECD6"/>
          </a:solidFill>
          <a:ln>
            <a:solidFill>
              <a:srgbClr val="C28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PPE granulate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8488" y="5221224"/>
            <a:ext cx="320040" cy="91440"/>
          </a:xfrm>
          <a:prstGeom prst="rect">
            <a:avLst/>
          </a:prstGeom>
          <a:solidFill>
            <a:srgbClr val="C2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65960" y="5029200"/>
            <a:ext cx="960120" cy="502920"/>
          </a:xfrm>
          <a:prstGeom prst="roundRect">
            <a:avLst/>
          </a:prstGeom>
          <a:solidFill>
            <a:srgbClr val="FFECD6"/>
          </a:solidFill>
          <a:ln>
            <a:solidFill>
              <a:srgbClr val="C28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Injection moulding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5221224"/>
            <a:ext cx="320040" cy="91440"/>
          </a:xfrm>
          <a:prstGeom prst="rect">
            <a:avLst/>
          </a:prstGeom>
          <a:solidFill>
            <a:srgbClr val="C2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91839" y="5029200"/>
            <a:ext cx="960120" cy="502920"/>
          </a:xfrm>
          <a:prstGeom prst="roundRect">
            <a:avLst/>
          </a:prstGeom>
          <a:solidFill>
            <a:srgbClr val="FFECD6"/>
          </a:solidFill>
          <a:ln>
            <a:solidFill>
              <a:srgbClr val="C28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Cooling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5221224"/>
            <a:ext cx="320040" cy="91440"/>
          </a:xfrm>
          <a:prstGeom prst="rect">
            <a:avLst/>
          </a:prstGeom>
          <a:solidFill>
            <a:srgbClr val="C2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7720" y="5029200"/>
            <a:ext cx="960120" cy="502920"/>
          </a:xfrm>
          <a:prstGeom prst="roundRect">
            <a:avLst/>
          </a:prstGeom>
          <a:solidFill>
            <a:srgbClr val="FFECD6"/>
          </a:solidFill>
          <a:ln>
            <a:solidFill>
              <a:srgbClr val="C28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Ejection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6128" y="5221224"/>
            <a:ext cx="320040" cy="91440"/>
          </a:xfrm>
          <a:prstGeom prst="rect">
            <a:avLst/>
          </a:prstGeom>
          <a:solidFill>
            <a:srgbClr val="C2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0" y="5029200"/>
            <a:ext cx="960120" cy="502920"/>
          </a:xfrm>
          <a:prstGeom prst="roundRect">
            <a:avLst/>
          </a:prstGeom>
          <a:solidFill>
            <a:srgbClr val="FFECD6"/>
          </a:solidFill>
          <a:ln>
            <a:solidFill>
              <a:srgbClr val="C28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Packaging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3375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</a:defRPr>
            </a:pPr>
            <a:r>
              <a:t>• Machine Selection: PLA → Thermoforming machine | PPE → Injection moulding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531E6B"/>
                </a:solidFill>
              </a:defRPr>
            </a:pPr>
            <a:r>
              <a:t>Core Results: LCC and LCA (per 1,000 containers)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577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9C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LCC Total: PLA = €66.3 | PPE = €54.4  → PPE economically superior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Material: 39.6 vs 22.4 | Energy: 6.5 vs 8.2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Labour: 12 vs 12 | Depreciation: 4 vs 6 | Tooling: 3 vs 5 | Waste: 1.2 vs 0.8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C217A"/>
                </a:solidFill>
              </a:defRPr>
            </a:pPr>
            <a:r>
              <a:t>LCC Total Cost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PLA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54680"/>
            <a:ext cx="2121865" cy="320040"/>
          </a:xfrm>
          <a:prstGeom prst="rect">
            <a:avLst/>
          </a:prstGeom>
          <a:solidFill>
            <a:srgbClr val="8A5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2025" y="3154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</a:defRPr>
            </a:pPr>
            <a:r>
              <a:t>66.3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730752"/>
            <a:ext cx="1741017" cy="320040"/>
          </a:xfrm>
          <a:prstGeom prst="rect">
            <a:avLst/>
          </a:prstGeom>
          <a:solidFill>
            <a:srgbClr val="628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1177" y="3730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</a:defRPr>
            </a:pPr>
            <a:r>
              <a:t>54.4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914400"/>
            <a:ext cx="530352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BA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143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</a:defRPr>
            </a:pPr>
            <a:r>
              <a:t>• LCA Highlights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</a:defRPr>
            </a:pPr>
            <a:r>
              <a:t>• GWP (kg CO₂-eq): PLA 28 vs PPE 34 (PLA better)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</a:defRPr>
            </a:pPr>
            <a:r>
              <a:t>• Energy Demand (MJ): PLA 420 vs PPE 510 (PLA better)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</a:defRPr>
            </a:pPr>
            <a:r>
              <a:t>• Water Use (L): PLA 180 vs PPE 60 (PPE better)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</a:defRPr>
            </a:pPr>
            <a:r>
              <a:t>• End-of-life performance depends on composting availability for PLA.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063240"/>
            <a:ext cx="1882588" cy="228600"/>
          </a:xfrm>
          <a:prstGeom prst="rect">
            <a:avLst/>
          </a:prstGeom>
          <a:solidFill>
            <a:srgbClr val="50B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3355848"/>
            <a:ext cx="2286000" cy="228600"/>
          </a:xfrm>
          <a:prstGeom prst="rect">
            <a:avLst/>
          </a:prstGeom>
          <a:solidFill>
            <a:srgbClr val="EC9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Energy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977639"/>
            <a:ext cx="1882588" cy="228600"/>
          </a:xfrm>
          <a:prstGeom prst="rect">
            <a:avLst/>
          </a:prstGeom>
          <a:solidFill>
            <a:srgbClr val="50B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4270248"/>
            <a:ext cx="2286000" cy="228600"/>
          </a:xfrm>
          <a:prstGeom prst="rect">
            <a:avLst/>
          </a:prstGeom>
          <a:solidFill>
            <a:srgbClr val="EC9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8920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Water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4892040"/>
            <a:ext cx="2286000" cy="228600"/>
          </a:xfrm>
          <a:prstGeom prst="rect">
            <a:avLst/>
          </a:prstGeom>
          <a:solidFill>
            <a:srgbClr val="50B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5184648"/>
            <a:ext cx="761999" cy="228600"/>
          </a:xfrm>
          <a:prstGeom prst="rect">
            <a:avLst/>
          </a:prstGeom>
          <a:solidFill>
            <a:srgbClr val="EC9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5715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</a:defRPr>
            </a:pPr>
            <a:r>
              <a:t>Green=PLA  Orange=PPE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FFFFFF"/>
                </a:solidFill>
              </a:defRPr>
            </a:pPr>
            <a:r>
              <a:t>Sensitivity, Positioning, and Final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566928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D3A"/>
                </a:solidFill>
              </a:defRPr>
            </a:pPr>
            <a:r>
              <a:t>Sensitivity Analysis (Professor Required)</a:t>
            </a:r>
          </a:p>
          <a:p>
            <a:pPr>
              <a:spcAft>
                <a:spcPts val="400"/>
              </a:spcAft>
              <a:defRPr sz="1300">
                <a:solidFill>
                  <a:srgbClr val="232D3A"/>
                </a:solidFill>
              </a:defRPr>
            </a:pPr>
            <a:r>
              <a:t>• PLA is highly sensitive to feedstock/material price (±20%).</a:t>
            </a:r>
          </a:p>
          <a:p>
            <a:pPr>
              <a:spcAft>
                <a:spcPts val="400"/>
              </a:spcAft>
              <a:defRPr sz="1300">
                <a:solidFill>
                  <a:srgbClr val="232D3A"/>
                </a:solidFill>
              </a:defRPr>
            </a:pPr>
            <a:r>
              <a:t>• PPE is highly sensitive to energy price (±30%).</a:t>
            </a:r>
          </a:p>
          <a:p>
            <a:pPr>
              <a:spcAft>
                <a:spcPts val="400"/>
              </a:spcAft>
              <a:defRPr sz="1300">
                <a:solidFill>
                  <a:srgbClr val="232D3A"/>
                </a:solidFill>
              </a:defRPr>
            </a:pPr>
            <a:r>
              <a:t>• Higher scrap rates penalize PLA more strongly.</a:t>
            </a:r>
          </a:p>
          <a:p>
            <a:pPr>
              <a:spcAft>
                <a:spcPts val="400"/>
              </a:spcAft>
              <a:defRPr sz="1300">
                <a:solidFill>
                  <a:srgbClr val="232D3A"/>
                </a:solidFill>
              </a:defRPr>
            </a:pPr>
            <a:r>
              <a:t>• PLA outcome depends on composting infrastructure quality.</a:t>
            </a:r>
          </a:p>
          <a:p>
            <a:pPr>
              <a:spcAft>
                <a:spcPts val="400"/>
              </a:spcAft>
              <a:defRPr sz="1300">
                <a:solidFill>
                  <a:srgbClr val="232D3A"/>
                </a:solidFill>
              </a:defRPr>
            </a:pPr>
            <a:r>
              <a:t>• PPE gains from large-scale production volumes.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32D3A"/>
                </a:solidFill>
              </a:defRPr>
            </a:pPr>
            <a:r>
              <a:t>Sensitivity Tornado (relative impact)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Material price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3977639"/>
            <a:ext cx="2432303" cy="201168"/>
          </a:xfrm>
          <a:prstGeom prst="rect">
            <a:avLst/>
          </a:prstGeom>
          <a:solidFill>
            <a:srgbClr val="5A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Energy 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4389120"/>
            <a:ext cx="1920239" cy="201168"/>
          </a:xfrm>
          <a:prstGeom prst="rect">
            <a:avLst/>
          </a:prstGeom>
          <a:solidFill>
            <a:srgbClr val="5A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End-of-life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4800600"/>
            <a:ext cx="1664207" cy="201168"/>
          </a:xfrm>
          <a:prstGeom prst="rect">
            <a:avLst/>
          </a:prstGeom>
          <a:solidFill>
            <a:srgbClr val="5A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Scrap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5212080"/>
            <a:ext cx="1408176" cy="201168"/>
          </a:xfrm>
          <a:prstGeom prst="rect">
            <a:avLst/>
          </a:prstGeom>
          <a:solidFill>
            <a:srgbClr val="5A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5623560"/>
            <a:ext cx="1280160" cy="201168"/>
          </a:xfrm>
          <a:prstGeom prst="rect">
            <a:avLst/>
          </a:prstGeom>
          <a:solidFill>
            <a:srgbClr val="5A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914400"/>
            <a:ext cx="493776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1430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C2C2C"/>
                </a:solidFill>
              </a:defRPr>
            </a:pPr>
            <a:r>
              <a:t>Alternatives Mapping (Cost–Environment–Technical)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7040880" y="1691640"/>
            <a:ext cx="3566160" cy="2651760"/>
          </a:xfrm>
          <a:prstGeom prst="triangle">
            <a:avLst/>
          </a:prstGeom>
          <a:solidFill>
            <a:srgbClr val="ECF6EF"/>
          </a:solidFill>
          <a:ln>
            <a:solidFill>
              <a:srgbClr val="5E8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664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5A3B"/>
                </a:solidFill>
              </a:defRPr>
            </a:pPr>
            <a: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160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5A3B"/>
                </a:solidFill>
              </a:defRPr>
            </a:pPr>
            <a:r>
              <a:t>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4160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5A3B"/>
                </a:solidFill>
              </a:defRPr>
            </a:pPr>
            <a:r>
              <a:t>Technical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377440"/>
            <a:ext cx="164592" cy="164592"/>
          </a:xfrm>
          <a:prstGeom prst="roundRect">
            <a:avLst/>
          </a:prstGeom>
          <a:solidFill>
            <a:srgbClr val="47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340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25435"/>
                </a:solidFill>
              </a:defRPr>
            </a:pPr>
            <a:r>
              <a:t>PLA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3246120"/>
            <a:ext cx="164592" cy="164592"/>
          </a:xfrm>
          <a:prstGeom prst="roundRect">
            <a:avLst/>
          </a:prstGeom>
          <a:solidFill>
            <a:srgbClr val="E7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D3C22"/>
                </a:solidFill>
              </a:defRPr>
            </a:pPr>
            <a:r>
              <a:t>PPE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5262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Final conclusions: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PLA: best environmental option (if composting is available).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PPE: best economic + technical option (especially hot food).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Recommended for deployment: choose by temperature, waste system, and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32C4E"/>
                </a:solidFill>
              </a:defRPr>
            </a:pPr>
            <a:r>
              <a:t>MANUFACTURING PROCESS – TAKEAWAY FOOD CONTAINER (650 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96D2C"/>
                </a:solidFill>
              </a:defRPr>
            </a:pPr>
            <a:r>
              <a:t>PROCESS 1: PLA – THERMOFORMING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96112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35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96112"/>
            <a:ext cx="1554480" cy="329184"/>
          </a:xfrm>
          <a:prstGeom prst="rect">
            <a:avLst/>
          </a:prstGeom>
          <a:solidFill>
            <a:srgbClr val="28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" y="941832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87834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PLA GRANULATE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PLA resin pellets</a:t>
            </a:r>
            <a:br/>
            <a:r>
              <a:t>used as raw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" y="2148839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624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01368" y="1764792"/>
            <a:ext cx="228600" cy="173736"/>
          </a:xfrm>
          <a:prstGeom prst="rightArrow">
            <a:avLst/>
          </a:prstGeom>
          <a:solidFill>
            <a:srgbClr val="358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9112" y="896112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35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9112" y="896112"/>
            <a:ext cx="1554480" cy="329184"/>
          </a:xfrm>
          <a:prstGeom prst="rect">
            <a:avLst/>
          </a:prstGeom>
          <a:solidFill>
            <a:srgbClr val="28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12264" y="941832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87834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932688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SHEET EXTRUSION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1307592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PLA granulate is melted</a:t>
            </a:r>
            <a:br/>
            <a:r>
              <a:t>and extruded into</a:t>
            </a:r>
            <a:br/>
            <a:r>
              <a:t>continuous sheets.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148839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2624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11879" y="1764792"/>
            <a:ext cx="228600" cy="173736"/>
          </a:xfrm>
          <a:prstGeom prst="rightArrow">
            <a:avLst/>
          </a:prstGeom>
          <a:solidFill>
            <a:srgbClr val="358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9624" y="896112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35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9624" y="896112"/>
            <a:ext cx="1554480" cy="329184"/>
          </a:xfrm>
          <a:prstGeom prst="rect">
            <a:avLst/>
          </a:prstGeom>
          <a:solidFill>
            <a:srgbClr val="28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22776" y="941832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87834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3" y="932688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THERMOFORMING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4" y="1307592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Heated PLA sheet is</a:t>
            </a:r>
            <a:br/>
            <a:r>
              <a:t>formed into container</a:t>
            </a:r>
            <a:br/>
            <a:r>
              <a:t>shape using vacuum</a:t>
            </a:r>
            <a:br/>
            <a:r>
              <a:t>forming.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67911" y="2148839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2624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422392" y="1764792"/>
            <a:ext cx="228600" cy="173736"/>
          </a:xfrm>
          <a:prstGeom prst="rightArrow">
            <a:avLst/>
          </a:prstGeom>
          <a:solidFill>
            <a:srgbClr val="358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0136" y="896112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35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0136" y="896112"/>
            <a:ext cx="1554480" cy="329184"/>
          </a:xfrm>
          <a:prstGeom prst="rect">
            <a:avLst/>
          </a:prstGeom>
          <a:solidFill>
            <a:srgbClr val="28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33288" y="941832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87834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0175" y="932688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TRIMMING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7296" y="1307592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Excess material (flange)</a:t>
            </a:r>
            <a:br/>
            <a:r>
              <a:t>is trimmed to final</a:t>
            </a:r>
            <a:br/>
            <a:r>
              <a:t>container shape.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78423" y="2148839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9864" y="2624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32903" y="1764792"/>
            <a:ext cx="228600" cy="173736"/>
          </a:xfrm>
          <a:prstGeom prst="rightArrow">
            <a:avLst/>
          </a:prstGeom>
          <a:solidFill>
            <a:srgbClr val="358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70648" y="896112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35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70648" y="896112"/>
            <a:ext cx="1554480" cy="329184"/>
          </a:xfrm>
          <a:prstGeom prst="rect">
            <a:avLst/>
          </a:prstGeom>
          <a:solidFill>
            <a:srgbClr val="28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43800" y="941832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87834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90688" y="932688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PACKAGING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1307592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Containers are stacked</a:t>
            </a:r>
            <a:br/>
            <a:r>
              <a:t>and packed for</a:t>
            </a:r>
            <a:br/>
            <a:r>
              <a:t>distribution.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88936" y="2148839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0375" y="2624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1160" y="896112"/>
            <a:ext cx="2011680" cy="2395728"/>
          </a:xfrm>
          <a:prstGeom prst="roundRect">
            <a:avLst/>
          </a:prstGeom>
          <a:solidFill>
            <a:srgbClr val="FCFCFC"/>
          </a:solidFill>
          <a:ln>
            <a:solidFill>
              <a:srgbClr val="35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81160" y="896112"/>
            <a:ext cx="2011680" cy="329184"/>
          </a:xfrm>
          <a:prstGeom prst="rect">
            <a:avLst/>
          </a:prstGeom>
          <a:solidFill>
            <a:srgbClr val="28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9326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FINAL PRODUCT (PLA)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1307592"/>
            <a:ext cx="1920240" cy="914400"/>
          </a:xfrm>
          <a:prstGeom prst="rect">
            <a:avLst/>
          </a:prstGeom>
          <a:solidFill>
            <a:srgbClr val="E7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231343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40" b="0">
                <a:solidFill>
                  <a:srgbClr val="1E1E1E"/>
                </a:solidFill>
              </a:defRPr>
            </a:pPr>
            <a:r>
              <a:t>• Material: PLA (Thermoformed)</a:t>
            </a:r>
            <a:br/>
            <a:r>
              <a:t>• Capacity: 650 mL</a:t>
            </a:r>
            <a:br/>
            <a:r>
              <a:t>• Color: Natural / Beige</a:t>
            </a:r>
            <a:br/>
            <a:r>
              <a:t>• Lightweight &amp; compostable</a:t>
            </a:r>
            <a:br/>
            <a:r>
              <a:t>• Suitable up to ~55°C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061704" y="1764792"/>
            <a:ext cx="228600" cy="173736"/>
          </a:xfrm>
          <a:prstGeom prst="rightArrow">
            <a:avLst/>
          </a:prstGeom>
          <a:solidFill>
            <a:srgbClr val="358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" y="3410712"/>
            <a:ext cx="11978640" cy="18288"/>
          </a:xfrm>
          <a:prstGeom prst="rect">
            <a:avLst/>
          </a:prstGeom>
          <a:solidFill>
            <a:srgbClr val="46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35204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B5296"/>
                </a:solidFill>
              </a:defRPr>
            </a:pPr>
            <a:r>
              <a:t>PROCESS 2: BIODEGRADABLE PPE – INJECTION MOULDING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8600" y="3767328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26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8600" y="3767328"/>
            <a:ext cx="1554480" cy="329184"/>
          </a:xfrm>
          <a:prstGeom prst="rect">
            <a:avLst/>
          </a:prstGeom>
          <a:solidFill>
            <a:srgbClr val="1E5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01752" y="3813048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5393"/>
                </a:solidFill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803904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PPE GRANULATE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4178808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Biodegradable PPE</a:t>
            </a:r>
            <a:br/>
            <a:r>
              <a:t>pellets used as</a:t>
            </a:r>
            <a:br/>
            <a:r>
              <a:t>raw material.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" y="5020056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" y="54955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1801368" y="4636008"/>
            <a:ext cx="228600" cy="173736"/>
          </a:xfrm>
          <a:prstGeom prst="rightArrow">
            <a:avLst/>
          </a:prstGeom>
          <a:solidFill>
            <a:srgbClr val="26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039112" y="3767328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26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39112" y="3767328"/>
            <a:ext cx="1554480" cy="329184"/>
          </a:xfrm>
          <a:prstGeom prst="rect">
            <a:avLst/>
          </a:prstGeom>
          <a:solidFill>
            <a:srgbClr val="1E5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112264" y="3813048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5393"/>
                </a:solidFill>
              </a:defRPr>
            </a:pPr>
            <a: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59152" y="3803904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INJECTION MOULDING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76272" y="4178808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Pellets are melted and</a:t>
            </a:r>
            <a:br/>
            <a:r>
              <a:t>injected into mould</a:t>
            </a:r>
            <a:br/>
            <a:r>
              <a:t>cavity under pressure.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5020056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40" y="54955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3611879" y="4636008"/>
            <a:ext cx="228600" cy="173736"/>
          </a:xfrm>
          <a:prstGeom prst="rightArrow">
            <a:avLst/>
          </a:prstGeom>
          <a:solidFill>
            <a:srgbClr val="26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49624" y="3767328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26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49624" y="3767328"/>
            <a:ext cx="1554480" cy="329184"/>
          </a:xfrm>
          <a:prstGeom prst="rect">
            <a:avLst/>
          </a:prstGeom>
          <a:solidFill>
            <a:srgbClr val="1E5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922776" y="3813048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5393"/>
                </a:solidFill>
              </a:defRPr>
            </a:pPr>
            <a: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69663" y="3803904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COOLING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4" y="4178808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Mould is cooled to</a:t>
            </a:r>
            <a:br/>
            <a:r>
              <a:t>solidify the container</a:t>
            </a:r>
            <a:br/>
            <a:r>
              <a:t>shape.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67911" y="5020056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59352" y="54955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5422392" y="4636008"/>
            <a:ext cx="228600" cy="173736"/>
          </a:xfrm>
          <a:prstGeom prst="rightArrow">
            <a:avLst/>
          </a:prstGeom>
          <a:solidFill>
            <a:srgbClr val="26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660136" y="3767328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26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60136" y="3767328"/>
            <a:ext cx="1554480" cy="329184"/>
          </a:xfrm>
          <a:prstGeom prst="rect">
            <a:avLst/>
          </a:prstGeom>
          <a:solidFill>
            <a:srgbClr val="1E5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733288" y="3813048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5393"/>
                </a:solidFill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80175" y="3803904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EJECTION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97296" y="4178808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Container is ejected</a:t>
            </a:r>
            <a:br/>
            <a:r>
              <a:t>from the mould.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78423" y="5020056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9864" y="54955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7232903" y="4636008"/>
            <a:ext cx="228600" cy="173736"/>
          </a:xfrm>
          <a:prstGeom prst="rightArrow">
            <a:avLst/>
          </a:prstGeom>
          <a:solidFill>
            <a:srgbClr val="26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470648" y="3767328"/>
            <a:ext cx="1554480" cy="2212848"/>
          </a:xfrm>
          <a:prstGeom prst="roundRect">
            <a:avLst/>
          </a:prstGeom>
          <a:solidFill>
            <a:srgbClr val="FAFBFC"/>
          </a:solidFill>
          <a:ln>
            <a:solidFill>
              <a:srgbClr val="26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470648" y="3767328"/>
            <a:ext cx="1554480" cy="329184"/>
          </a:xfrm>
          <a:prstGeom prst="rect">
            <a:avLst/>
          </a:prstGeom>
          <a:solidFill>
            <a:srgbClr val="1E5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543800" y="3813048"/>
            <a:ext cx="21031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5393"/>
                </a:solidFill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90688" y="3803904"/>
            <a:ext cx="11887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t>PACKAGING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07808" y="4178808"/>
            <a:ext cx="1280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" b="0">
                <a:solidFill>
                  <a:srgbClr val="1C1C1C"/>
                </a:solidFill>
              </a:defRPr>
            </a:pPr>
            <a:r>
              <a:t>Containers are inspected,</a:t>
            </a:r>
            <a:br/>
            <a:r>
              <a:t>stacked and packed</a:t>
            </a:r>
            <a:br/>
            <a:r>
              <a:t>for distribution.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88936" y="5020056"/>
            <a:ext cx="1517904" cy="914400"/>
          </a:xfrm>
          <a:prstGeom prst="rect">
            <a:avLst/>
          </a:prstGeom>
          <a:solidFill>
            <a:srgbClr val="E6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80375" y="54955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</a:defRPr>
            </a:pPr>
            <a:r>
              <a:t>Image placeholder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281160" y="3767328"/>
            <a:ext cx="2011680" cy="2395728"/>
          </a:xfrm>
          <a:prstGeom prst="roundRect">
            <a:avLst/>
          </a:prstGeom>
          <a:solidFill>
            <a:srgbClr val="FCFCFC"/>
          </a:solidFill>
          <a:ln>
            <a:solidFill>
              <a:srgbClr val="26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281160" y="3767328"/>
            <a:ext cx="2011680" cy="329184"/>
          </a:xfrm>
          <a:prstGeom prst="rect">
            <a:avLst/>
          </a:prstGeom>
          <a:solidFill>
            <a:srgbClr val="1E5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72600" y="380390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FINAL PRODUCT (PPE)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326880" y="4178808"/>
            <a:ext cx="1920240" cy="9144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418320" y="5184648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40" b="0">
                <a:solidFill>
                  <a:srgbClr val="1E1E1E"/>
                </a:solidFill>
              </a:defRPr>
            </a:pPr>
            <a:r>
              <a:t>• Material: Biodegradable PPE</a:t>
            </a:r>
            <a:br/>
            <a:r>
              <a:t>• Capacity: 650 mL</a:t>
            </a:r>
            <a:br/>
            <a:r>
              <a:t>• Color: Natural / White</a:t>
            </a:r>
            <a:br/>
            <a:r>
              <a:t>• Heat resistance up to 100°C</a:t>
            </a:r>
            <a:br/>
            <a:r>
              <a:t>• Durable &amp; food safe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9061704" y="4636008"/>
            <a:ext cx="228600" cy="173736"/>
          </a:xfrm>
          <a:prstGeom prst="rightArrow">
            <a:avLst/>
          </a:prstGeom>
          <a:solidFill>
            <a:srgbClr val="26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28600" y="6272784"/>
            <a:ext cx="11750040" cy="512064"/>
          </a:xfrm>
          <a:prstGeom prst="roundRect">
            <a:avLst/>
          </a:prstGeom>
          <a:solidFill>
            <a:srgbClr val="F8F9FB"/>
          </a:solidFill>
          <a:ln>
            <a:solidFill>
              <a:srgbClr val="B2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43400" y="6309360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80" b="1">
                <a:solidFill>
                  <a:srgbClr val="1F293A"/>
                </a:solidFill>
              </a:defRPr>
            </a:pPr>
            <a:r>
              <a:t>PROCESS COMPARISON SUMMARY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65196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1E1E1E"/>
                </a:solidFill>
              </a:defRPr>
            </a:pPr>
            <a:r>
              <a:t>TECHNOLOGY</a:t>
            </a:r>
            <a:br/>
            <a:r>
              <a:t>PLA: Thermoforming</a:t>
            </a:r>
            <a:br/>
            <a:r>
              <a:t>PPE: Injection Moulding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04872" y="65196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1E1E1E"/>
                </a:solidFill>
              </a:defRPr>
            </a:pPr>
            <a:r>
              <a:t>CYCLE TIME (APPROX.)</a:t>
            </a:r>
            <a:br/>
            <a:r>
              <a:t>PLA: 6–8 sec</a:t>
            </a:r>
            <a:br/>
            <a:r>
              <a:t>PPE: 4–6 sec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06824" y="65196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1E1E1E"/>
                </a:solidFill>
              </a:defRPr>
            </a:pPr>
            <a:r>
              <a:t>SCRAP RATE</a:t>
            </a:r>
            <a:br/>
            <a:r>
              <a:t>PLA: ~12%</a:t>
            </a:r>
            <a:br/>
            <a:r>
              <a:t>PPE: ~4%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08776" y="65196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1E1E1E"/>
                </a:solidFill>
              </a:defRPr>
            </a:pPr>
            <a:r>
              <a:t>HEAT RESISTANCE</a:t>
            </a:r>
            <a:br/>
            <a:r>
              <a:t>PLA: ~55°C</a:t>
            </a:r>
            <a:br/>
            <a:r>
              <a:t>PPE: up to 100°C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10728" y="65196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1E1E1E"/>
                </a:solidFill>
              </a:defRPr>
            </a:pPr>
            <a:r>
              <a:t>END-OF-LIFE</a:t>
            </a:r>
            <a:br/>
            <a:r>
              <a:t>PLA: Industrial compostable</a:t>
            </a:r>
            <a:br/>
            <a:r>
              <a:t>PPE: Limited compostability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12680" y="65196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1E1E1E"/>
                </a:solidFill>
              </a:defRPr>
            </a:pPr>
            <a:r>
              <a:t>APPLICATION</a:t>
            </a:r>
            <a:br/>
            <a:r>
              <a:t>Both suitable for takeaway</a:t>
            </a:r>
            <a:br/>
            <a:r>
              <a:t>food packaging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32C4E"/>
                </a:solidFill>
              </a:defRPr>
            </a:pPr>
            <a:r>
              <a:t>COST &amp; ENVIRONMENTAL COMPARISON CHARTS (PLA vs BIODEGRADABLE PPE)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91440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914400"/>
          <a:ext cx="53035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8404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B5296"/>
                </a:solidFill>
              </a:defRPr>
            </a:pPr>
            <a:r>
              <a:t>Sensitivity Snapshot (Editable Diagram)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519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</a:defRPr>
            </a:pPr>
            <a:r>
              <a:t>Material price (±20%)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270248"/>
            <a:ext cx="1810512" cy="164592"/>
          </a:xfrm>
          <a:prstGeom prst="rect">
            <a:avLst/>
          </a:prstGeom>
          <a:solidFill>
            <a:srgbClr val="55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519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PLA more sensitive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7258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</a:defRPr>
            </a:pPr>
            <a:r>
              <a:t>Energy price (±30%)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690872"/>
            <a:ext cx="1709928" cy="164592"/>
          </a:xfrm>
          <a:prstGeom prst="rect">
            <a:avLst/>
          </a:prstGeom>
          <a:solidFill>
            <a:srgbClr val="55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672584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PPE more sensitive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9320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</a:defRPr>
            </a:pPr>
            <a:r>
              <a:t>Scrap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5111496"/>
            <a:ext cx="1247241" cy="164592"/>
          </a:xfrm>
          <a:prstGeom prst="rect">
            <a:avLst/>
          </a:prstGeom>
          <a:solidFill>
            <a:srgbClr val="55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509320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PLA penalty higher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138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</a:defRPr>
            </a:pPr>
            <a:r>
              <a:t>End-of-life scenario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5532120"/>
            <a:ext cx="1408176" cy="164592"/>
          </a:xfrm>
          <a:prstGeom prst="rect">
            <a:avLst/>
          </a:prstGeom>
          <a:solidFill>
            <a:srgbClr val="55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551383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PLA depends on composting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3445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</a:defRPr>
            </a:pPr>
            <a:r>
              <a:t>Production volume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5952744"/>
            <a:ext cx="1106424" cy="164592"/>
          </a:xfrm>
          <a:prstGeom prst="rect">
            <a:avLst/>
          </a:prstGeom>
          <a:solidFill>
            <a:srgbClr val="55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934456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PPE gains at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03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AA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23360"/>
            <a:ext cx="48463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t>Key Takeaways</a:t>
            </a:r>
            <a:br/>
            <a:r>
              <a:t>• PPE is economically superior (Total LCC: €54.4 vs €66.3).</a:t>
            </a:r>
            <a:br/>
            <a:r>
              <a:t>• PLA performs better in GWP and energy demand.</a:t>
            </a:r>
            <a:br/>
            <a:r>
              <a:t>• PPE performs better in water use and heat resistance.</a:t>
            </a:r>
            <a:br/>
            <a:r>
              <a:t>• Final choice depends on temperature requirements,</a:t>
            </a:r>
            <a:br/>
            <a:r>
              <a:t>  composting infrastructure, and cost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