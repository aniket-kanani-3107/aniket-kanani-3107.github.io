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Margin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Comp A</c:v>
                </c:pt>
                <c:pt idx="1">
                  <c:v>Comp B</c:v>
                </c:pt>
                <c:pt idx="2">
                  <c:v>Comp C</c:v>
                </c:pt>
                <c:pt idx="3">
                  <c:v>Tested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3.5</c:v>
                </c:pt>
                <c:pt idx="1">
                  <c:v>4.1</c:v>
                </c:pt>
                <c:pt idx="2">
                  <c:v>3.8</c:v>
                </c:pt>
                <c:pt idx="3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Profit 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IP Owner</c:v>
                </c:pt>
                <c:pt idx="1">
                  <c:v>Manufacturer</c:v>
                </c:pt>
                <c:pt idx="2">
                  <c:v>Distributor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</c:pieChart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0F3154"/>
                </a:solidFill>
                <a:latin typeface="Calibri"/>
              </a:rPr>
              <a:t>Introduction to International Tax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1F2937"/>
                </a:solidFill>
                <a:latin typeface="Calibri"/>
              </a:rPr>
              <a:t>Transfer Pricing Methods Acceptable by Tax Authorities</a:t>
            </a:r>
          </a:p>
          <a:p>
            <a:r>
              <a:rPr>
                <a:solidFill>
                  <a:srgbClr val="1F2937"/>
                </a:solidFill>
                <a:latin typeface="Calibri"/>
              </a:rPr>
              <a:t>Presenter: Aniket Kanani</a:t>
            </a:r>
          </a:p>
          <a:p>
            <a:r>
              <a:rPr>
                <a:solidFill>
                  <a:srgbClr val="1F2937"/>
                </a:solidFill>
                <a:latin typeface="Calibri"/>
              </a:rPr>
              <a:t>Course: Introduction to International Tax Management</a:t>
            </a:r>
          </a:p>
          <a:p>
            <a:r>
              <a:rPr>
                <a:solidFill>
                  <a:srgbClr val="1F2937"/>
                </a:solidFill>
                <a:latin typeface="Calibri"/>
              </a:rPr>
              <a:t>Date: April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Why transfer pricing matters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Regulatory framework and arm’s length principle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Comparability analysis and method selection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Accepted transfer pricing methods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Documentation, compliance, and 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Oval 9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  <a:latin typeface="Calibri"/>
              </a:rPr>
              <a:t>Transfer Pricing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Pricing of transactions between related parties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Determines how profits are allocated across tax jurisdictions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Focus of tax authorities to prevent base erosion and profit shifting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Must align with economic substance and value creation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2011680"/>
            <a:ext cx="2194560" cy="1005840"/>
          </a:xfrm>
          <a:prstGeom prst="roundRect">
            <a:avLst/>
          </a:prstGeom>
          <a:solidFill>
            <a:srgbClr val="EBF4FA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00467F"/>
                </a:solidFill>
                <a:latin typeface="Calibri"/>
              </a:rPr>
              <a:t>Parent 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35440" y="2011680"/>
            <a:ext cx="2194560" cy="1005840"/>
          </a:xfrm>
          <a:prstGeom prst="roundRect">
            <a:avLst/>
          </a:prstGeom>
          <a:solidFill>
            <a:srgbClr val="EBF4FA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00467F"/>
                </a:solidFill>
                <a:latin typeface="Calibri"/>
              </a:rPr>
              <a:t>Subsidiary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0" y="2514600.0"/>
            <a:ext cx="457200" cy="0.0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Regulatory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OECD Transfer Pricing Guidelines (global standard)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Germany: Außensteuergesetz (AStG) and BMF administrative principles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EU Joint Transfer Pricing Forum guidance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UN Transfer Pricing Manual for developing countries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Domestic law and tax treaty obligations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Arm’s Length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Controlled transactions should mirror independent-party terms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Benchmark using reliable market comparables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Requires functional analysis: functions, assets, risks (FAR)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Consistency with value chain and commercial rationality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Comparability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Define the controlled transaction and tested party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Identify internal or external comparables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Assess product, contractual, economic, and strategic factors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Adjust for material differences when possible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Use ranges (e.g., interquartile) where accepted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Oval 11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  <a:latin typeface="Calibri"/>
              </a:rPr>
              <a:t>Selecting the Most Appropriate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Choose the method that best reflects the transaction and data quality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Traditional transaction methods preferred when reliable comparables exist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Consider degree of comparability and availability of data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Apply a consistent approach over time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Document the rationale for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828800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  <a:latin typeface="Calibri"/>
              </a:rPr>
              <a:t>Transaction 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35440" y="1828800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  <a:latin typeface="Calibri"/>
              </a:rPr>
              <a:t>Data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3749039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  <a:latin typeface="Calibri"/>
              </a:rPr>
              <a:t>Best method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0" y="2240280.0"/>
            <a:ext cx="365760" cy="0.0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680960.0" y="2651760"/>
            <a:ext cx="2743200.0" cy="1097279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Comparable Uncontrolled Price (CUP)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Compares controlled price to price in comparable independent transactions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Most direct and reliable method when high-quality comparables exist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Commonly used for commodities, financial transactions, and licenses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Requires close product and contractual comparability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Resale Price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Starts with resale price to independent customers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Subtracts an arm’s length gross margin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Used for routine distributors without significant value-added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Adjust for functions, risks, and market differences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Cost Plus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Adds an arm’s length mark-up to the supplier’s costs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Suitable for contract manufacturing or service providers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Critical to define the cost base consistently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Mark-up benchmarked against comparable independent firms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Oval 7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  <a:latin typeface="Calibri"/>
              </a:rPr>
              <a:t>Transactional Net Margin Method (TNMM)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Tests net profit relative to an appropriate base (sales, costs, assets)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Widely applied due to data availability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Less sensitive to product differences than gross margin methods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Requires reliable selection of a profit level indicator (PLI)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92240" y="1828800"/>
          <a:ext cx="51206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Oval 7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  <a:latin typeface="Calibri"/>
              </a:rPr>
              <a:t>Profit Split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Allocates combined profits based on relative contributions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Appropriate for integrated operations or unique intangibles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Includes contribution and residual profit split approaches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Requires robust allocation keys and documentation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0" y="1828800"/>
          <a:ext cx="475488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Other Accepted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Other methods allowed if they yield a more reliable arm’s length result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Valuation techniques for hard-to-value intangibles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Safe harbors where available under local rules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Advance Pricing Agreements (APAs) for certainty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Oval 7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  <a:latin typeface="Calibri"/>
              </a:rPr>
              <a:t>Documentation and Compliance (BEPS Action 13)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Master File, Local File, and Country-by-Country Reporting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German thresholds, timelines, and penalty exposure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Contemporaneous documentation reduces audit risk</a:t>
            </a:r>
          </a:p>
          <a:p>
            <a:pPr/>
            <a:r>
              <a:rPr sz="2200" b="1">
                <a:solidFill>
                  <a:srgbClr val="0F3154"/>
                </a:solidFill>
                <a:latin typeface="Calibri"/>
              </a:rPr>
              <a:t>Use of APAs and Mutual Agreement Procedures for disputes</a:t>
            </a:r>
          </a:p>
        </p:txBody>
      </p:sp>
      <p:pic>
        <p:nvPicPr>
          <p:cNvPr id="4" name="Picture 3" descr="tp_doc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920240"/>
            <a:ext cx="3291840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097280" y="4846320"/>
            <a:ext cx="2743200" cy="274320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31375" y="-914400"/>
            <a:ext cx="2926080" cy="2926080"/>
          </a:xfrm>
          <a:prstGeom prst="ellipse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F3154"/>
                </a:solidFill>
                <a:latin typeface="Calibri"/>
              </a:rP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Arm’s length principle is the cornerstone of transfer pricing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Method choice depends on transaction type and data quality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Strong comparability analysis is essential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Documentation and consistency drive audit resilience</a:t>
            </a:r>
          </a:p>
          <a:p>
            <a:pPr/>
            <a:r>
              <a:rPr sz="2200" b="0">
                <a:solidFill>
                  <a:srgbClr val="282828"/>
                </a:solidFill>
                <a:latin typeface="Calibri"/>
              </a:rP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6382512"/>
            <a:ext cx="11935663" cy="18288"/>
          </a:xfrm>
          <a:prstGeom prst="rect">
            <a:avLst/>
          </a:prstGeom>
          <a:solidFill>
            <a:srgbClr val="CA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09584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B7C"/>
                </a:solidFill>
                <a:latin typeface="Calibri"/>
              </a:rPr>
              <a:t>Transfer Pricing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B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