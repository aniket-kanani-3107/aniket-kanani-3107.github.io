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0D2B55"/>
                </a:solidFill>
              </a:rPr>
              <a:t>Driver Income Sources</a:t>
            </a:r>
          </a:p>
        </c:rich>
      </c:tx>
      <c:layout/>
      <c:overlay val="0"/>
    </c:title>
    <c:autoTitleDeleted val="0"/>
    <c:plotArea>
      <c:pieChart>
        <c:varyColors val="1"/>
        <c:ser>
          <c:dPt>
            <c:idx val="1"/>
            <c:invertIfNegative val="0"/>
            <c:spPr>
              <a:solidFill>
                <a:srgbClr val="BBCCDD"/>
              </a:solidFill>
            </c:spPr>
          </c:dPt>
          <c:dPt>
            <c:idx val="0"/>
            <c:invertIfNegative val="0"/>
            <c:spPr>
              <a:solidFill>
                <a:srgbClr val="0D2B55"/>
              </a:solidFill>
            </c:spPr>
          </c:dPt>
          <c:idx val="0"/>
          <c:order val="0"/>
          <c:tx>
            <c:strRef>
              <c:f>Sheet1!$B$1</c:f>
              <c:strCache>
                <c:ptCount val="1"/>
                <c:pt idx="0">
                  <c:v>Income Share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RidePlus income (&gt;80 %)</c:v>
                </c:pt>
                <c:pt idx="1">
                  <c:v>Other income (&lt;20 %)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D2B55"/>
                </a:solidFill>
              </a:rPr>
              <a:t>Labour Protections: Employee vs RidePlus Driver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(entitled)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Minimum Wage</c:v>
                </c:pt>
                <c:pt idx="1">
                  <c:v>Overtime Pay</c:v>
                </c:pt>
                <c:pt idx="2">
                  <c:v>Paid Breaks</c:v>
                </c:pt>
                <c:pt idx="3">
                  <c:v>Sick Pay</c:v>
                </c:pt>
                <c:pt idx="4">
                  <c:v>Social Security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RidePlus Drivers (actual)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Minimum Wage</c:v>
                </c:pt>
                <c:pt idx="1">
                  <c:v>Overtime Pay</c:v>
                </c:pt>
                <c:pt idx="2">
                  <c:v>Paid Breaks</c:v>
                </c:pt>
                <c:pt idx="3">
                  <c:v>Sick Pay</c:v>
                </c:pt>
                <c:pt idx="4">
                  <c:v>Social Security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D2B55"/>
                </a:solidFill>
              </a:rPr>
              <a:t>Classification Indicators (Indicative Score 0–100)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Points toward Employment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Control / Direction</c:v>
                </c:pt>
                <c:pt idx="1">
                  <c:v>Economic Dependence</c:v>
                </c:pt>
                <c:pt idx="2">
                  <c:v>Integration</c:v>
                </c:pt>
                <c:pt idx="3">
                  <c:v>Autonomy (real)</c:v>
                </c:pt>
                <c:pt idx="4">
                  <c:v>Market Freedom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85</c:v>
                </c:pt>
                <c:pt idx="2">
                  <c:v>80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Points toward Self-Employment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Control / Direction</c:v>
                </c:pt>
                <c:pt idx="1">
                  <c:v>Economic Dependence</c:v>
                </c:pt>
                <c:pt idx="2">
                  <c:v>Integration</c:v>
                </c:pt>
                <c:pt idx="3">
                  <c:v>Autonomy (real)</c:v>
                </c:pt>
                <c:pt idx="4">
                  <c:v>Market Freedom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80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GigMotion GmbH  v.  RidePlus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Employees or Self-Employed in the Digital 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BCCDD"/>
                </a:solidFill>
              </a:rPr>
              <a:t>Assignment I  –  Personal Scope of Labour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Prepared by: Aniket Kanani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CCDD"/>
                </a:solidFill>
              </a:rPr>
              <a:t>Course: Labour Law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Who are the parties and what is the dispute?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4864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🚗  RidePlus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GigMotion GmbH operates RidePlus, a Berlin-based ride-hailing platform. Drivers register via an app, accept bookings algorithmically, and are formally contracted as self-employed service providers.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⚖️  The Dispute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In spring 2025, several drivers — supported by trade union Fahrende Stimme — filed claims before a German labour court, arguing they are de facto employees entitled to:
  • Minimum wage (§ 1 MiLoG)
  • Working time protections (ArbZG)
  • Social security contributions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669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Key Actors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57400"/>
            <a:ext cx="5120640" cy="822960"/>
          </a:xfrm>
          <a:prstGeom prst="rect">
            <a:avLst/>
          </a:prstGeom>
          <a:solidFill>
            <a:srgbClr val="F2F4F7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93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GigMotion GmbH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093976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Platform operator; argues drivers are
independent contractors.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5120640" cy="822960"/>
          </a:xfrm>
          <a:prstGeom prst="rect">
            <a:avLst/>
          </a:prstGeom>
          <a:solidFill>
            <a:srgbClr val="F2F4F7"/>
          </a:solidFill>
          <a:ln w="2540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54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9B"/>
                </a:solidFill>
              </a:rPr>
              <a:t>RidePlus 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054096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Service providers; claim employee
status &amp; labour-law protections.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5120640" cy="822960"/>
          </a:xfrm>
          <a:prstGeom prst="rect">
            <a:avLst/>
          </a:prstGeom>
          <a:solidFill>
            <a:srgbClr val="F2F4F7"/>
          </a:solidFill>
          <a:ln w="2540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1421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Fahrende Stimme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014215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Trade union; supports drivers'
claims before the labour court.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937759"/>
            <a:ext cx="5120640" cy="822960"/>
          </a:xfrm>
          <a:prstGeom prst="rect">
            <a:avLst/>
          </a:prstGeom>
          <a:solidFill>
            <a:srgbClr val="F2F4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974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Labour Court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974336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Adjudicates the classification
question under EU &amp; German law.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Legal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Applicable law at EU, national and international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8404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E9B"/>
                </a:solidFill>
              </a:rPr>
              <a:t>🇪🇺  EU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Art. 45 TFEU – free movement of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8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Lawrie-Blum (C-66/85) – CJEU worker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Allonby (C-256/01) – substance over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644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FNV Kunsten (C-413/13) – disguised employment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Yodel (C-692/19) – real autonomy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8404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72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🇩🇪  German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8483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§ 611a BGB – employment contract &amp; personal 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78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§ 106 GewO – employer's right of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871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§ 1 MiLoG – minimum wage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644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ArbZG – working time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SGB IV – social security contributions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463040"/>
            <a:ext cx="38404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572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55C"/>
                </a:solidFill>
              </a:rPr>
              <a:t>🌐  ILO Standards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208483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ILO Rec. No. 198 (2006) 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9" y="2478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  Employment Relationship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2871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Indicators: subordination,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32644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  integration, economic 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Substance over contractual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ABC Test – Dynamex Operations West v. Superior Court (2018)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California Supreme Court · Case No. S222732  |  A key classification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</a:rPr>
              <a:t>A worker is presumed an EMPLOYEE unless the hiring company proves ALL three conditions:</a:t>
            </a:r>
          </a:p>
        </p:txBody>
      </p:sp>
      <p:sp>
        <p:nvSpPr>
          <p:cNvPr id="10" name="Oval 9"/>
          <p:cNvSpPr/>
          <p:nvPr/>
        </p:nvSpPr>
        <p:spPr>
          <a:xfrm>
            <a:off x="1554480" y="2103120"/>
            <a:ext cx="914400" cy="914400"/>
          </a:xfrm>
          <a:prstGeom prst="ellipse">
            <a:avLst/>
          </a:prstGeom>
          <a:solidFill>
            <a:srgbClr val="1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17627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34747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55C"/>
                </a:solidFill>
              </a:rPr>
              <a:t>Free from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The worker is free from the company's control and direction in performing work.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2103120"/>
            <a:ext cx="914400" cy="914400"/>
          </a:xfrm>
          <a:prstGeom prst="ellipse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7627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154680"/>
            <a:ext cx="34747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E9B"/>
                </a:solidFill>
              </a:rPr>
              <a:t>Outside Core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7490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The work is outside the usual course of the company's business.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2103120"/>
            <a:ext cx="914400" cy="914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7627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154680"/>
            <a:ext cx="34747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Independent 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4903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The worker is customarily engaged in an independently established trade or business.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14300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4F00"/>
                </a:solidFill>
              </a:rPr>
              <a:t>⚠  If the company FAILS to prove any ONE condition → the worker is legally an EMPLOYEE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Right of Control – Algorithmic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§ 611a BGB · § 106 GewO · ECJ Lawrie-Blum C-66/85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2286000"/>
            <a:ext cx="2743200" cy="2743200"/>
          </a:xfrm>
          <a:prstGeom prst="ellipse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RidePlus
Algorithm
= Employer
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4825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Ride Allocation
(algorithmic dispatch)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5993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Price Setting
(no driver input)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28016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31673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Performance
Monitoring &amp; Ratings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502920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506577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Economic Incentives
&amp; Bonus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28016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131673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Availability
'Recommendations'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029200"/>
            <a:ext cx="2560320" cy="822960"/>
          </a:xfrm>
          <a:prstGeom prst="rect">
            <a:avLst/>
          </a:prstGeom>
          <a:solidFill>
            <a:srgbClr val="1A5E9B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506577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Access Restrictions
(low-rated drivers)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98932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2B55"/>
                </a:solidFill>
              </a:rPr>
              <a:t>Although no human supervisor issues direct orders, algorithmic management replicates managerial control: the platform determines what work is available, what it pays, and how performance is rewarded — a modern form of subordination recognised in FNV Kunsten (C-413/13) and ILO Rec. No. 198.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Autonomy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ECJ: Allonby C-256/01 – substance over contractual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55C"/>
                </a:solidFill>
              </a:rPr>
              <a:t>Claimed Autonomy  (GigMotion's argument)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5394960" cy="4389120"/>
          </a:xfrm>
          <a:prstGeom prst="rect">
            <a:avLst/>
          </a:prstGeom>
          <a:solidFill>
            <a:srgbClr val="EAF7EF"/>
          </a:solidFill>
          <a:ln w="1905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✔  Freedom to log on/off at any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✔  No obligation to accept specific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✔  Ability to work for other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✔  No fixed shift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✔  No traditional disciplinary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Actual Constraints  (Drivers' reality)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20240"/>
            <a:ext cx="5394960" cy="4389120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Algorithm sets prices (no driver control)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Recommendations = indirect 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Ratings affect future ride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204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80 %+ income from platform (economic lock-in)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Alternative clients hard to reach algorithmically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26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✘  No independent customer base possible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3200400"/>
            <a:ext cx="64008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236976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00800"/>
            <a:ext cx="115214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28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Conclusion: Formal flexibility ≠ genuine autonomy · Allonby (C-256/01): actual working conditions prevail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Economic 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FNV Kunsten C-413/13 · ILO Rec. No. 198 · disguised employment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463040"/>
          <a:ext cx="5029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577840" y="1463040"/>
            <a:ext cx="62179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727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Why Does Economic Dependence Matter?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84831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Drivers earning &gt;80 % from one platform lack genuine market freedom.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97479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Cannot refuse work without significant income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310127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Bargaining power far below a truly independent entrepreneur.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922776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Bonus systems and ratings lock drivers into the platform ecosystem.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535424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FNV Kunsten: formally self-employed may still be 'workers' if
   conditions resemble employment.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148072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▶  ILO Rec. 198: economic dependence is a key indicator —
   substance over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Remuneration &amp; 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No minimum wage · no overtime · no paid breaks · commission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46304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92240" y="1463040"/>
            <a:ext cx="539496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Pay Issues at RidePlus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Commission only — fixed % of fare per trip.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No guaranteed minimum hourly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5468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No compensation for waiting / on-call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7033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No paid rest breaks.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51959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Drivers pay own social security contributions.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800599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No sick pay, no holiday pay.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349239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✘  Company saves significant employment costs
by classifying workers as self-employed.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Case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ECJ · UK Supreme Court · California Supreme Court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84048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Uber BV v. Aslam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UK Supreme Court ·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3657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Issue: Are Uber drivers 'workers' or self-employed?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3657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Held: Drivers are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Uber sets fares — drivers cannot negotiate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21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Uber controls access to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Performance monitoring via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97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Contract wording ≠ legal reality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463040"/>
            <a:ext cx="384048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9B"/>
                </a:solidFill>
              </a:rPr>
              <a:t>Yodel Delivery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ECJ · Case C-692/19 · 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2377440"/>
            <a:ext cx="3657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Issue: Can genuine freedom make someone self-employed?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2880360"/>
            <a:ext cx="3657600" cy="38404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9077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Held: YES — if real autonomy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Freedom to choose tasks and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21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Freedom to work for other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Absence of strong platform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4897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Real independence = self-employed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1463040"/>
            <a:ext cx="384048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1572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855C"/>
                </a:solidFill>
              </a:rPr>
              <a:t>FNV Kunsten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ECJ · Case C-413/13 · 2014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377440"/>
            <a:ext cx="3657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Issue: Can formally self-employed be 'workers' under EU law?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880360"/>
            <a:ext cx="3657600" cy="384048"/>
          </a:xfrm>
          <a:prstGeom prst="rect">
            <a:avLst/>
          </a:prstGeom>
          <a:solidFill>
            <a:srgbClr val="1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9077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Held: YES — if economically dependent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Formal label does not determine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21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Comparable working conditions = worker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Economic dependence is decisive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4897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Applies to platform / gig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Balancing of Interests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GigMotion arguments vs. Drivers' reality — key indicators compared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41732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417320"/>
            <a:ext cx="4480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527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Legal Balancing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011680"/>
            <a:ext cx="4206240" cy="868680"/>
          </a:xfrm>
          <a:prstGeom prst="rect">
            <a:avLst/>
          </a:prstGeom>
          <a:solidFill>
            <a:srgbClr val="F2F4F7"/>
          </a:solidFill>
          <a:ln w="2540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03911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55C"/>
                </a:solidFill>
              </a:rPr>
              <a:t>GigMotion argues: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5915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Flexible hours · no fixed shifts
· can work elsewhere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017520"/>
            <a:ext cx="4206240" cy="868680"/>
          </a:xfrm>
          <a:prstGeom prst="rect">
            <a:avLst/>
          </a:prstGeom>
          <a:solidFill>
            <a:srgbClr val="F2F4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0449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Drivers' reality: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36499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Algorithm controls work · 80%+
income from platform · no real
client independence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023360"/>
            <a:ext cx="4206240" cy="868680"/>
          </a:xfrm>
          <a:prstGeom prst="rect">
            <a:avLst/>
          </a:prstGeom>
          <a:solidFill>
            <a:srgbClr val="F2F4F7"/>
          </a:solidFill>
          <a:ln w="2540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05079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9B"/>
                </a:solidFill>
              </a:rPr>
              <a:t>Legal test: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37083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§ 611a BGB + ECJ: substance
over form · actual conditions
decide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5029200"/>
            <a:ext cx="4206240" cy="868680"/>
          </a:xfrm>
          <a:prstGeom prst="rect">
            <a:avLst/>
          </a:prstGeom>
          <a:solidFill>
            <a:srgbClr val="F2F4F7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505663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Outcome: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37667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Control + dependence + integration
→ employee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Integration into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Drivers are embedded in the RidePlus operational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GigMotion GmbH v. RidePlus  |  Labour Law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828800" cy="914400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8346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Customer
Requests 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29992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743200"/>
            <a:ext cx="182880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28346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RidePlus App
Receives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992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743200"/>
            <a:ext cx="1828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28346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🤖 Algorithm
Allocates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992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1828800" cy="914400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🚗 Driver
Performs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9992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743200"/>
            <a:ext cx="1828800" cy="914400"/>
          </a:xfrm>
          <a:prstGeom prst="rect">
            <a:avLst/>
          </a:prstGeom>
          <a:solidFill>
            <a:srgbClr val="1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83464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Customer
Completes 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</a:rPr>
              <a:t>The driver is an integral, irreplaceable link in the RidePlus value chain.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11338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1713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9B"/>
                </a:solidFill>
              </a:rPr>
              <a:t>▶  Uses RidePlus app exclusively during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82896"/>
            <a:ext cx="11338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194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▶  Represents the RidePlus brand to customers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85232"/>
            <a:ext cx="11338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21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▶  Cannot set own prices or choose own customers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87568"/>
            <a:ext cx="11338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2414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9B"/>
                </a:solidFill>
              </a:rPr>
              <a:t>▶  Performance evaluated within the platform's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89904"/>
            <a:ext cx="11338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55C"/>
                </a:solidFill>
              </a:rPr>
              <a:t>▶  Core service delivery depends entirely on drivers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RidePlus drivers should be classified as EMPLOYEES under labour law.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011680" cy="65836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4942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platform's algorithmic management constitutes effective direction over the
manner, time, and price of work (§ 611a BGB; Lawrie-Blum C-66/85).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2011680" cy="65836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2666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Economic
Dependence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2666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Drivers derive &gt;80 % of income from RidePlus, creating a power imbalance
inconsistent with genuine self-employment (FNV Kunsten C-413/13).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2011680" cy="65836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0390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803903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Drivers are embedded in the business model; without them the platform
cannot function — a classic indicator of employment.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79"/>
            <a:ext cx="2011680" cy="65836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8114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Substance
over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581143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Despite 'self-employed' labelling, actual working conditions prevail
(Allonby C-256/01; § 611a(1) sentence 5 BGB).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19"/>
            <a:ext cx="2011680" cy="658368"/>
          </a:xfrm>
          <a:prstGeom prst="rect">
            <a:avLst/>
          </a:prstGeom>
          <a:solidFill>
            <a:srgbClr val="1A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5838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Protections
Due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5358383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Minimum wage (MiLoG), working time limits (ArbZG), and social security
contributions should apply to RidePlus drivers.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</a:rPr>
              <a:t>The gig economy cannot be a loophole to circumvent fundamental labour rights.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