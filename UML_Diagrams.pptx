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Calibri"/>
              </a:defRPr>
            </a:pPr>
            <a:r>
              <a:t>UML 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822960"/>
            <a:ext cx="10058400" cy="548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9326880" cy="23317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326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Calibri"/>
              </a:defRPr>
            </a:pPr>
            <a:r>
              <a:t>HR dashboard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11880"/>
            <a:ext cx="9326880" cy="14173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326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Calibri"/>
              </a:defRPr>
            </a:pPr>
            <a:r>
              <a:t>Admin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66360"/>
            <a:ext cx="9326880" cy="9601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326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Calibri"/>
              </a:defRPr>
            </a:pPr>
            <a:r>
              <a:t>Data collection (candidate-facing)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Calibri"/>
              </a:defRPr>
            </a:pPr>
            <a:r>
              <a:t>Talent Analytics Platform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" y="182880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65760" y="1975104"/>
            <a:ext cx="0" cy="23774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" y="2084832"/>
            <a:ext cx="274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56032" y="221284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221284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0" y="23957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HR Manager</a:t>
            </a:r>
          </a:p>
        </p:txBody>
      </p:sp>
      <p:sp>
        <p:nvSpPr>
          <p:cNvPr id="17" name="Oval 16"/>
          <p:cNvSpPr/>
          <p:nvPr/>
        </p:nvSpPr>
        <p:spPr>
          <a:xfrm>
            <a:off x="10991088" y="356616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064240" y="3712463"/>
            <a:ext cx="0" cy="23774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27080" y="3822191"/>
            <a:ext cx="274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954512" y="395020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64240" y="395020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98480" y="4133087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Admin</a:t>
            </a:r>
          </a:p>
        </p:txBody>
      </p:sp>
      <p:sp>
        <p:nvSpPr>
          <p:cNvPr id="23" name="Oval 22"/>
          <p:cNvSpPr/>
          <p:nvPr/>
        </p:nvSpPr>
        <p:spPr>
          <a:xfrm>
            <a:off x="292608" y="493776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5084064"/>
            <a:ext cx="0" cy="23774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193792"/>
            <a:ext cx="274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56032" y="532180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60" y="532180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0" y="55046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Candidate</a:t>
            </a:r>
          </a:p>
        </p:txBody>
      </p:sp>
      <p:sp>
        <p:nvSpPr>
          <p:cNvPr id="29" name="Oval 28"/>
          <p:cNvSpPr/>
          <p:nvPr/>
        </p:nvSpPr>
        <p:spPr>
          <a:xfrm>
            <a:off x="10991088" y="566928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1064240" y="5815584"/>
            <a:ext cx="0" cy="23774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927080" y="5925312"/>
            <a:ext cx="274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954512" y="605332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064240" y="6053328"/>
            <a:ext cx="109728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698480" y="62362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Data Engineer</a:t>
            </a:r>
          </a:p>
        </p:txBody>
      </p:sp>
      <p:sp>
        <p:nvSpPr>
          <p:cNvPr id="35" name="Oval 34"/>
          <p:cNvSpPr/>
          <p:nvPr/>
        </p:nvSpPr>
        <p:spPr>
          <a:xfrm>
            <a:off x="2377440" y="1371600"/>
            <a:ext cx="21031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View candidate</a:t>
            </a:r>
          </a:p>
          <a:p>
            <a:r>
              <a:t>profiles</a:t>
            </a:r>
          </a:p>
        </p:txBody>
      </p:sp>
      <p:sp>
        <p:nvSpPr>
          <p:cNvPr id="36" name="Oval 35"/>
          <p:cNvSpPr/>
          <p:nvPr/>
        </p:nvSpPr>
        <p:spPr>
          <a:xfrm>
            <a:off x="2377440" y="2011680"/>
            <a:ext cx="21031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Filter &amp; compare</a:t>
            </a:r>
          </a:p>
          <a:p>
            <a:r>
              <a:t>candidates</a:t>
            </a:r>
          </a:p>
        </p:txBody>
      </p:sp>
      <p:sp>
        <p:nvSpPr>
          <p:cNvPr id="37" name="Oval 36"/>
          <p:cNvSpPr/>
          <p:nvPr/>
        </p:nvSpPr>
        <p:spPr>
          <a:xfrm>
            <a:off x="5394960" y="2240280"/>
            <a:ext cx="265176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View analytics dashboard</a:t>
            </a:r>
          </a:p>
          <a:p>
            <a:r>
              <a:t>(network, income, age, exp.)</a:t>
            </a:r>
          </a:p>
        </p:txBody>
      </p:sp>
      <p:sp>
        <p:nvSpPr>
          <p:cNvPr id="38" name="Oval 37"/>
          <p:cNvSpPr/>
          <p:nvPr/>
        </p:nvSpPr>
        <p:spPr>
          <a:xfrm>
            <a:off x="2377440" y="2834640"/>
            <a:ext cx="21031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View personality</a:t>
            </a:r>
          </a:p>
          <a:p>
            <a:r>
              <a:t>assessment scores</a:t>
            </a:r>
          </a:p>
        </p:txBody>
      </p:sp>
      <p:sp>
        <p:nvSpPr>
          <p:cNvPr id="39" name="Oval 38"/>
          <p:cNvSpPr/>
          <p:nvPr/>
        </p:nvSpPr>
        <p:spPr>
          <a:xfrm>
            <a:off x="2377440" y="3703320"/>
            <a:ext cx="21031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Export report</a:t>
            </a:r>
          </a:p>
        </p:txBody>
      </p:sp>
      <p:sp>
        <p:nvSpPr>
          <p:cNvPr id="40" name="Oval 39"/>
          <p:cNvSpPr/>
          <p:nvPr/>
        </p:nvSpPr>
        <p:spPr>
          <a:xfrm>
            <a:off x="2377440" y="4526280"/>
            <a:ext cx="21031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Manage user accounts</a:t>
            </a:r>
          </a:p>
        </p:txBody>
      </p:sp>
      <p:sp>
        <p:nvSpPr>
          <p:cNvPr id="41" name="Oval 40"/>
          <p:cNvSpPr/>
          <p:nvPr/>
        </p:nvSpPr>
        <p:spPr>
          <a:xfrm>
            <a:off x="5394960" y="4480560"/>
            <a:ext cx="22860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Configure pipeline</a:t>
            </a:r>
          </a:p>
          <a:p>
            <a:r>
              <a:t>settings</a:t>
            </a:r>
          </a:p>
        </p:txBody>
      </p:sp>
      <p:sp>
        <p:nvSpPr>
          <p:cNvPr id="42" name="Oval 41"/>
          <p:cNvSpPr/>
          <p:nvPr/>
        </p:nvSpPr>
        <p:spPr>
          <a:xfrm>
            <a:off x="4206240" y="5212080"/>
            <a:ext cx="2560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Approve data quality</a:t>
            </a:r>
          </a:p>
          <a:p>
            <a:r>
              <a:t>reports</a:t>
            </a:r>
          </a:p>
        </p:txBody>
      </p:sp>
      <p:sp>
        <p:nvSpPr>
          <p:cNvPr id="43" name="Oval 42"/>
          <p:cNvSpPr/>
          <p:nvPr/>
        </p:nvSpPr>
        <p:spPr>
          <a:xfrm>
            <a:off x="2468880" y="5669280"/>
            <a:ext cx="20116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Complete survey</a:t>
            </a:r>
          </a:p>
        </p:txBody>
      </p:sp>
      <p:sp>
        <p:nvSpPr>
          <p:cNvPr id="44" name="Oval 43"/>
          <p:cNvSpPr/>
          <p:nvPr/>
        </p:nvSpPr>
        <p:spPr>
          <a:xfrm>
            <a:off x="5394960" y="5623560"/>
            <a:ext cx="2560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Provide LinkedIn profile</a:t>
            </a:r>
          </a:p>
          <a:p>
            <a:r>
              <a:t>consent</a:t>
            </a:r>
          </a:p>
        </p:txBody>
      </p:sp>
      <p:sp>
        <p:nvSpPr>
          <p:cNvPr id="45" name="Oval 44"/>
          <p:cNvSpPr/>
          <p:nvPr/>
        </p:nvSpPr>
        <p:spPr>
          <a:xfrm>
            <a:off x="2377440" y="6492240"/>
            <a:ext cx="21031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Build &amp; maintain</a:t>
            </a:r>
          </a:p>
          <a:p>
            <a:r>
              <a:t>dashboard</a:t>
            </a:r>
          </a:p>
        </p:txBody>
      </p:sp>
      <p:sp>
        <p:nvSpPr>
          <p:cNvPr id="46" name="Oval 45"/>
          <p:cNvSpPr/>
          <p:nvPr/>
        </p:nvSpPr>
        <p:spPr>
          <a:xfrm>
            <a:off x="5440680" y="6492240"/>
            <a:ext cx="21031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Run data pipeline</a:t>
            </a:r>
          </a:p>
        </p:txBody>
      </p:sp>
      <p:sp>
        <p:nvSpPr>
          <p:cNvPr id="47" name="Oval 46"/>
          <p:cNvSpPr/>
          <p:nvPr/>
        </p:nvSpPr>
        <p:spPr>
          <a:xfrm>
            <a:off x="2377440" y="7315200"/>
            <a:ext cx="21031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Monitor &amp; log data</a:t>
            </a:r>
          </a:p>
          <a:p>
            <a:r>
              <a:t>quality issues</a:t>
            </a:r>
          </a:p>
        </p:txBody>
      </p:sp>
      <p:sp>
        <p:nvSpPr>
          <p:cNvPr id="48" name="Oval 47"/>
          <p:cNvSpPr/>
          <p:nvPr/>
        </p:nvSpPr>
        <p:spPr>
          <a:xfrm>
            <a:off x="5440680" y="7315200"/>
            <a:ext cx="21031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latin typeface="Calibri"/>
              </a:defRPr>
            </a:pPr>
            <a:r>
              <a:t>Deploy &amp; update</a:t>
            </a:r>
          </a:p>
          <a:p>
            <a:r>
              <a:t>pipeline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594360" y="1627632"/>
            <a:ext cx="1783080" cy="448056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4360" y="2075688"/>
            <a:ext cx="1783080" cy="16459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4360" y="2075688"/>
            <a:ext cx="1783080" cy="98755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4360" y="2075688"/>
            <a:ext cx="1783080" cy="188366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94360" y="2075688"/>
            <a:ext cx="4800600" cy="438912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680960" y="3977639"/>
            <a:ext cx="3200400" cy="77724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766560" y="3977639"/>
            <a:ext cx="4114800" cy="1463041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4360" y="5440680"/>
            <a:ext cx="1874520" cy="4572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543800" y="6080760"/>
            <a:ext cx="3337560" cy="6858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7543800" y="6080760"/>
            <a:ext cx="3337560" cy="14630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543800" y="6080760"/>
            <a:ext cx="3337560" cy="17373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80560" y="1645920"/>
            <a:ext cx="914400" cy="868680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486400" y="4480560"/>
            <a:ext cx="1097280" cy="960120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80560" y="5897880"/>
            <a:ext cx="914400" cy="0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80560" y="6766560"/>
            <a:ext cx="960120" cy="0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4846320" y="2697480"/>
            <a:ext cx="548640" cy="4069080"/>
          </a:xfrm>
          <a:prstGeom prst="line">
            <a:avLst/>
          </a:prstGeom>
          <a:ln w="1587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846320" y="21031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latin typeface="Calibri"/>
              </a:defRPr>
            </a:pPr>
            <a:r>
              <a:t>«include»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98348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latin typeface="Calibri"/>
              </a:defRPr>
            </a:pPr>
            <a:r>
              <a:t>«include»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98348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latin typeface="Calibri"/>
              </a:defRPr>
            </a:pPr>
            <a:r>
              <a:t>«extend»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58521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latin typeface="Calibri"/>
              </a:defRPr>
            </a:pPr>
            <a:r>
              <a:t>«include»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67208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latin typeface="Calibri"/>
              </a:defRPr>
            </a:pPr>
            <a:r>
              <a:t>«include»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Calibri"/>
              </a:defRPr>
            </a:pPr>
            <a:r>
              <a:t>UML Activity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371600"/>
            <a:ext cx="9601200" cy="42062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0632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Calibri"/>
              </a:defRPr>
            </a:pPr>
            <a:r>
              <a:t>Activity diagram source image was not accessible in this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