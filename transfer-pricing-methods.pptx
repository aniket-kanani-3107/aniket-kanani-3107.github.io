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Margin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Comp A</c:v>
                </c:pt>
                <c:pt idx="1">
                  <c:v>Comp B</c:v>
                </c:pt>
                <c:pt idx="2">
                  <c:v>Comp C</c:v>
                </c:pt>
                <c:pt idx="3">
                  <c:v>Tested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3.5</c:v>
                </c:pt>
                <c:pt idx="1">
                  <c:v>4.1</c:v>
                </c:pt>
                <c:pt idx="2">
                  <c:v>3.8</c:v>
                </c:pt>
                <c:pt idx="3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 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IP Owner</c:v>
                </c:pt>
                <c:pt idx="1">
                  <c:v>Manufacturer</c:v>
                </c:pt>
                <c:pt idx="2">
                  <c:v>Distributor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25</c:v>
                </c:pt>
                <c:pt idx="2">
                  <c:v>20</c:v>
                </c:pt>
              </c:numCache>
            </c:numRef>
          </c:val>
        </c:ser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00467F"/>
                </a:solidFill>
              </a:rPr>
              <a:t>Introduction to International Tax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solidFill>
                  <a:srgbClr val="5A5A5A"/>
                </a:solidFill>
              </a:rPr>
              <a:t>Transfer Pricing Methods Acceptable by Tax Authorities</a:t>
            </a:r>
          </a:p>
          <a:p>
            <a:r>
              <a:rPr sz="2000" b="0">
                <a:solidFill>
                  <a:srgbClr val="5A5A5A"/>
                </a:solidFill>
              </a:rPr>
              <a:t>Course: Introduction to International Tax Management  |  Presenter: [Your Name]</a:t>
            </a:r>
          </a:p>
          <a:p>
            <a:r>
              <a:rPr sz="2000" b="0">
                <a:solidFill>
                  <a:srgbClr val="5A5A5A"/>
                </a:solidFill>
              </a:rPr>
              <a:t>University: [Your University]  |  Date: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467F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 b="0">
                <a:solidFill>
                  <a:srgbClr val="282828"/>
                </a:solidFill>
              </a:rPr>
              <a:t>Why transfer pricing matters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Regulatory framework and arm’s length principle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Comparability analysis and method selection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Accepted transfer pricing methods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Documentation, compliance, and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467F"/>
                </a:solidFill>
              </a:rPr>
              <a:t>Transfer Pricing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0"/>
            <a:ext cx="5486400" cy="0"/>
          </a:xfrm>
        </p:spPr>
        <p:txBody>
          <a:bodyPr/>
          <a:lstStyle/>
          <a:p>
            <a:pPr/>
            <a:r>
              <a:rPr sz="2200" b="0">
                <a:solidFill>
                  <a:srgbClr val="282828"/>
                </a:solidFill>
              </a:rPr>
              <a:t>Pricing of transactions between related parties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Determines how profits are allocated across tax jurisdictions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Focus of tax authorities to prevent base erosion and profit shifting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Must align with economic substance and value creation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2011680"/>
            <a:ext cx="2194560" cy="1005840"/>
          </a:xfrm>
          <a:prstGeom prst="roundRect">
            <a:avLst/>
          </a:prstGeom>
          <a:solidFill>
            <a:srgbClr val="EBF4FA"/>
          </a:solidFill>
          <a:ln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00467F"/>
                </a:solidFill>
              </a:rPr>
              <a:t>Parent 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2011680"/>
            <a:ext cx="2194560" cy="1005840"/>
          </a:xfrm>
          <a:prstGeom prst="roundRect">
            <a:avLst/>
          </a:prstGeom>
          <a:solidFill>
            <a:srgbClr val="EBF4FA"/>
          </a:solidFill>
          <a:ln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00467F"/>
                </a:solidFill>
              </a:rPr>
              <a:t>Subsidiary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0" y="2514600.0"/>
            <a:ext cx="457200" cy="0.0"/>
          </a:xfrm>
          <a:prstGeom prst="line">
            <a:avLst/>
          </a:prstGeom>
          <a:ln>
            <a:solidFill>
              <a:srgbClr val="00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467F"/>
                </a:solidFill>
              </a:rPr>
              <a:t>Regulatory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 b="0">
                <a:solidFill>
                  <a:srgbClr val="282828"/>
                </a:solidFill>
              </a:rPr>
              <a:t>OECD Transfer Pricing Guidelines (global standard)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Germany: Außensteuergesetz (AStG) and BMF administrative principles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EU Joint Transfer Pricing Forum guidance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UN Transfer Pricing Manual for developing countries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Domestic law and tax treaty obligations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467F"/>
                </a:solidFill>
              </a:rPr>
              <a:t>Arm’s Length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 b="0">
                <a:solidFill>
                  <a:srgbClr val="282828"/>
                </a:solidFill>
              </a:rPr>
              <a:t>Controlled transactions should mirror independent-party terms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Benchmark using reliable market comparables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Requires functional analysis: functions, assets, risks (FAR)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Consistency with value chain and commercial rationality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467F"/>
                </a:solidFill>
              </a:rPr>
              <a:t>Comparability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 b="0">
                <a:solidFill>
                  <a:srgbClr val="282828"/>
                </a:solidFill>
              </a:rPr>
              <a:t>Define the controlled transaction and tested party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Identify internal or external comparables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Assess product, contractual, economic, and strategic factors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Adjust for material differences when possible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Use ranges (e.g., interquartile) where accepted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467F"/>
                </a:solidFill>
              </a:rPr>
              <a:t>Selecting the Most Appropriate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0"/>
            <a:ext cx="5486400" cy="0"/>
          </a:xfrm>
        </p:spPr>
        <p:txBody>
          <a:bodyPr/>
          <a:lstStyle/>
          <a:p>
            <a:pPr/>
            <a:r>
              <a:rPr sz="2200" b="0">
                <a:solidFill>
                  <a:srgbClr val="282828"/>
                </a:solidFill>
              </a:rPr>
              <a:t>Choose the method that best reflects the transaction and data quality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Traditional transaction methods preferred when reliable comparables exist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Consider degree of comparability and availability of data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Apply a consistent approach over time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Document the rationale for selection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828800"/>
            <a:ext cx="2377440" cy="822960"/>
          </a:xfrm>
          <a:prstGeom prst="roundRect">
            <a:avLst/>
          </a:prstGeom>
          <a:solidFill>
            <a:srgbClr val="F4F8FC"/>
          </a:solidFill>
          <a:ln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00467F"/>
                </a:solidFill>
              </a:rPr>
              <a:t>Transaction 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1828800"/>
            <a:ext cx="2377440" cy="822960"/>
          </a:xfrm>
          <a:prstGeom prst="roundRect">
            <a:avLst/>
          </a:prstGeom>
          <a:solidFill>
            <a:srgbClr val="F4F8FC"/>
          </a:solidFill>
          <a:ln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00467F"/>
                </a:solidFill>
              </a:rPr>
              <a:t>Data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749039"/>
            <a:ext cx="2377440" cy="822960"/>
          </a:xfrm>
          <a:prstGeom prst="roundRect">
            <a:avLst/>
          </a:prstGeom>
          <a:solidFill>
            <a:srgbClr val="F4F8FC"/>
          </a:solidFill>
          <a:ln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00467F"/>
                </a:solidFill>
              </a:rPr>
              <a:t>Best method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0" y="2240280.0"/>
            <a:ext cx="365760" cy="0.0"/>
          </a:xfrm>
          <a:prstGeom prst="line">
            <a:avLst/>
          </a:prstGeom>
          <a:ln>
            <a:solidFill>
              <a:srgbClr val="00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680960.0" y="2651760"/>
            <a:ext cx="2743200.0" cy="1097279"/>
          </a:xfrm>
          <a:prstGeom prst="line">
            <a:avLst/>
          </a:prstGeom>
          <a:ln>
            <a:solidFill>
              <a:srgbClr val="00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467F"/>
                </a:solidFill>
              </a:rPr>
              <a:t>Comparable Uncontrolled Price (CUP)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 b="0">
                <a:solidFill>
                  <a:srgbClr val="282828"/>
                </a:solidFill>
              </a:rPr>
              <a:t>Compares controlled price to price in comparable independent transactions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Most direct and reliable method when high-quality comparables exist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Commonly used for commodities, financial transactions, and licenses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Requires close product and contractual comparability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467F"/>
                </a:solidFill>
              </a:rPr>
              <a:t>Resale Price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 b="0">
                <a:solidFill>
                  <a:srgbClr val="282828"/>
                </a:solidFill>
              </a:rPr>
              <a:t>Starts with resale price to independent customers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Subtracts an arm’s length gross margin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Used for routine distributors without significant value-added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Adjust for functions, risks, and market differences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467F"/>
                </a:solidFill>
              </a:rPr>
              <a:t>Cost Plus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 b="0">
                <a:solidFill>
                  <a:srgbClr val="282828"/>
                </a:solidFill>
              </a:rPr>
              <a:t>Adds an arm’s length mark-up to the supplier’s costs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Suitable for contract manufacturing or service providers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Critical to define the cost base consistently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Mark-up benchmarked against comparable independent firms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467F"/>
                </a:solidFill>
              </a:rPr>
              <a:t>Transactional Net Margin Method (TNMM)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0"/>
            <a:ext cx="5486400" cy="0"/>
          </a:xfrm>
        </p:spPr>
        <p:txBody>
          <a:bodyPr/>
          <a:lstStyle/>
          <a:p>
            <a:pPr/>
            <a:r>
              <a:rPr sz="2200" b="0">
                <a:solidFill>
                  <a:srgbClr val="282828"/>
                </a:solidFill>
              </a:rPr>
              <a:t>Tests net profit relative to an appropriate base (sales, costs, assets)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Widely applied due to data availability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Less sensitive to product differences than gross margin methods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Requires reliable selection of a profit level indicator (PLI)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92240" y="1828800"/>
          <a:ext cx="51206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467F"/>
                </a:solidFill>
              </a:rPr>
              <a:t>Profit Split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0"/>
            <a:ext cx="5486400" cy="0"/>
          </a:xfrm>
        </p:spPr>
        <p:txBody>
          <a:bodyPr/>
          <a:lstStyle/>
          <a:p>
            <a:pPr/>
            <a:r>
              <a:rPr sz="2200" b="0">
                <a:solidFill>
                  <a:srgbClr val="282828"/>
                </a:solidFill>
              </a:rPr>
              <a:t>Allocates combined profits based on relative contributions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Appropriate for integrated operations or unique intangibles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Includes contribution and residual profit split approaches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Requires robust allocation keys and documentation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675120" y="1828800"/>
          <a:ext cx="475488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467F"/>
                </a:solidFill>
              </a:rPr>
              <a:t>Other Accepted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 b="0">
                <a:solidFill>
                  <a:srgbClr val="282828"/>
                </a:solidFill>
              </a:rPr>
              <a:t>Other methods allowed if they yield a more reliable arm’s length result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Valuation techniques for hard-to-value intangibles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Safe harbors where available under local rules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Advance Pricing Agreements (APAs) for certainty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467F"/>
                </a:solidFill>
              </a:rPr>
              <a:t>Documentation and Compliance (BEPS Action 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0"/>
            <a:ext cx="5486400" cy="0"/>
          </a:xfrm>
        </p:spPr>
        <p:txBody>
          <a:bodyPr/>
          <a:lstStyle/>
          <a:p>
            <a:pPr/>
            <a:r>
              <a:rPr sz="2200" b="0">
                <a:solidFill>
                  <a:srgbClr val="282828"/>
                </a:solidFill>
              </a:rPr>
              <a:t>Master File, Local File, and Country-by-Country Reporting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German thresholds, timelines, and penalty exposure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Contemporaneous documentation reduces audit risk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Use of APAs and Mutual Agreement Procedures for disputes</a:t>
            </a:r>
          </a:p>
        </p:txBody>
      </p:sp>
      <p:pic>
        <p:nvPicPr>
          <p:cNvPr id="4" name="Picture 3" descr="tp_doc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32918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467F"/>
                </a:solidFill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 b="0">
                <a:solidFill>
                  <a:srgbClr val="282828"/>
                </a:solidFill>
              </a:rPr>
              <a:t>Arm’s length principle is the cornerstone of transfer pricing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Method choice depends on transaction type and data quality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Strong comparability analysis is essential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Documentation and consistency drive audit resilience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