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LCC Breakdown per 1,000 Containers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39.6</c:v>
                </c:pt>
                <c:pt idx="1">
                  <c:v>6.5</c:v>
                </c:pt>
                <c:pt idx="2">
                  <c:v>12</c:v>
                </c:pt>
                <c:pt idx="3">
                  <c:v>4</c:v>
                </c:pt>
                <c:pt idx="4">
                  <c:v>3</c:v>
                </c:pt>
                <c:pt idx="5">
                  <c:v>1.2</c:v>
                </c:pt>
                <c:pt idx="6">
                  <c:v>66.3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22.4</c:v>
                </c:pt>
                <c:pt idx="1">
                  <c:v>8.2</c:v>
                </c:pt>
                <c:pt idx="2">
                  <c:v>12</c:v>
                </c:pt>
                <c:pt idx="3">
                  <c:v>6</c:v>
                </c:pt>
                <c:pt idx="4">
                  <c:v>5</c:v>
                </c:pt>
                <c:pt idx="5">
                  <c:v>0.8</c:v>
                </c:pt>
                <c:pt idx="6">
                  <c:v>54.4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LCA Impact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420</c:v>
                </c:pt>
                <c:pt idx="2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510</c:v>
                </c:pt>
                <c:pt idx="2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Life Cycle Engineering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PLA vs. Biodegradable PPE Food Packaging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72237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6583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Course: Life Cycle Engineering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Professor: Paulo Peças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Group Members: ____________________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Date: July 1,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Why this product?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Takeaway containers are high-volume single-use items and a major lever for plastic-waste reduction under EU policy shifts.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13C69"/>
                </a:solidFill>
              </a:defRPr>
            </a:pPr>
            <a:r>
              <a:t>Product Characterization, Alternatives, and Process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4864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Functional Unit: 1,000 containers (500–750 mL)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Market Size (EU): 8–10 billion units/year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Requirements: food-safe, heat-resistant, lightweight, low-cost, scalable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PLA: density 1.24 g/cm³ | thermoforming | ~55°C | industrial composting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PPE: density 0.90 g/cm³ | injection moulding | up to 100°C | limited compostability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75745"/>
                </a:solidFill>
              </a:defRPr>
            </a:pPr>
            <a:r>
              <a:t>PLA Process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PLA granulate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6596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Sheet extrusion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39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Thermoforming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Trimming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612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70430C"/>
                </a:solidFill>
              </a:defRPr>
            </a:pPr>
            <a:r>
              <a:t>PPE Process 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PPE granulate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6596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Injection moulding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91839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Cooling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1772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Ejection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9612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375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Machine Selection: PLA → Thermoforming machine | PPE → Injection moulding machine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531E6B"/>
                </a:solidFill>
              </a:defRPr>
            </a:pPr>
            <a:r>
              <a:t>Core Results: LCC and LCA (per 1,000 containers)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55778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C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LCC Total: PLA = €66.3 | PPE = €54.4  → PPE economically superior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Material: 39.6 vs 22.4 | Energy: 6.5 vs 8.2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Labour: 12 vs 12 | Depreciation: 4 vs 6 | Tooling: 3 vs 5 | Waste: 1.2 vs 0.8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5C217A"/>
                </a:solidFill>
              </a:defRPr>
            </a:pPr>
            <a:r>
              <a:t>LCC Total Cost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54680"/>
            <a:ext cx="2121865" cy="320040"/>
          </a:xfrm>
          <a:prstGeom prst="rect">
            <a:avLst/>
          </a:prstGeom>
          <a:solidFill>
            <a:srgbClr val="8A5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2025" y="3154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66.3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0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30752"/>
            <a:ext cx="1741017" cy="320040"/>
          </a:xfrm>
          <a:prstGeom prst="rect">
            <a:avLst/>
          </a:prstGeom>
          <a:solidFill>
            <a:srgbClr val="628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1177" y="3730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54.4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91440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BAD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430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LCA Highlights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GWP (kg CO₂-eq): PLA 28 vs PPE 34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Energy Demand (MJ): PLA 420 vs PPE 510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Water Use (L): PLA 180 vs PPE 60 (PPE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End-of-life performance depends on composting availability for PLA.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63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063240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558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Energy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977639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42702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892040"/>
            <a:ext cx="2286000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5184648"/>
            <a:ext cx="761999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5715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C3C3C"/>
                </a:solidFill>
              </a:defRPr>
            </a:pPr>
            <a:r>
              <a:t>Green=PLA  Orange=PPE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100">
                <a:solidFill>
                  <a:srgbClr val="FFFFFF"/>
                </a:solidFill>
              </a:defRPr>
            </a:pPr>
            <a:r>
              <a:t>Sensitivity, Positioning, and Final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66928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Sensitivity Analysis (Professor Required)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is highly sensitive to feedstock/material price (±20%).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is highly sensitive to energy price (±30%).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Higher scrap rates penalize PLA more strongly.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outcome depends on composting infrastructure quality.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gains from large-scale production volumes.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32D3A"/>
                </a:solidFill>
              </a:defRPr>
            </a:pPr>
            <a:r>
              <a:t>Sensitivity Tornado (relative impact)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Material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3977639"/>
            <a:ext cx="2432303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Energy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389120"/>
            <a:ext cx="1920239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End-of-life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4800600"/>
            <a:ext cx="1664207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5212080"/>
            <a:ext cx="1408176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5623560"/>
            <a:ext cx="1280160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914400"/>
            <a:ext cx="493776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11430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C2C2C"/>
                </a:solidFill>
              </a:defRPr>
            </a:pPr>
            <a:r>
              <a:t>Alternatives Mapping (Cost–Environment–Technical)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7040880" y="1691640"/>
            <a:ext cx="3566160" cy="2651760"/>
          </a:xfrm>
          <a:prstGeom prst="triangle">
            <a:avLst/>
          </a:prstGeom>
          <a:solidFill>
            <a:srgbClr val="ECF6EF"/>
          </a:solidFill>
          <a:ln>
            <a:solidFill>
              <a:srgbClr val="5E8E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64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160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Technical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377440"/>
            <a:ext cx="164592" cy="164592"/>
          </a:xfrm>
          <a:prstGeom prst="roundRect">
            <a:avLst/>
          </a:prstGeom>
          <a:solidFill>
            <a:srgbClr val="47A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340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25435"/>
                </a:solidFill>
              </a:defRPr>
            </a:pPr>
            <a:r>
              <a:t>PLA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246120"/>
            <a:ext cx="164592" cy="164592"/>
          </a:xfrm>
          <a:prstGeom prst="roundRect">
            <a:avLst/>
          </a:prstGeom>
          <a:solidFill>
            <a:srgbClr val="E7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321868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D3C22"/>
                </a:solidFill>
              </a:defRPr>
            </a:pPr>
            <a:r>
              <a:t>PPE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5262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Final conclusions: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PLA: best environmental option (if composting is available).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PPE: best economic + technical option (especially hot food).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Recommended for deployment: choose by temperature, waste system, and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MANUFACTURING PROCESS – TAKEAWAY FOOD CONTAINER (650 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96D2C"/>
                </a:solidFill>
              </a:defRPr>
            </a:pPr>
            <a:r>
              <a:t>PROCESS 1: PLA – THERMOFORMING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PLA GRANULATE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resin pellets</a:t>
            </a:r>
            <a:br/>
            <a:r>
              <a:t>used as raw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01368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39112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12264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SHEET EXTRUSION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granulate is melted</a:t>
            </a:r>
            <a:br/>
            <a:r>
              <a:t>and extruded into</a:t>
            </a:r>
            <a:br/>
            <a:r>
              <a:t>continuous sheets.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11879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49624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9624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22776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THERMOFORMING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6784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Heated PLA sheet is</a:t>
            </a:r>
            <a:br/>
            <a:r>
              <a:t>formed into container</a:t>
            </a:r>
            <a:br/>
            <a:r>
              <a:t>shape using vacuum</a:t>
            </a:r>
            <a:br/>
            <a:r>
              <a:t>forming.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67911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422392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0136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0136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33288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5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TRIMMING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Excess material (flange)</a:t>
            </a:r>
            <a:br/>
            <a:r>
              <a:t>is trimmed to final</a:t>
            </a:r>
            <a:br/>
            <a:r>
              <a:t>container shape.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78423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9864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232903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70648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70648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43800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90688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7808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stacked</a:t>
            </a:r>
            <a:br/>
            <a:r>
              <a:t>and packed for</a:t>
            </a:r>
            <a:br/>
            <a:r>
              <a:t>distribution.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88936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0375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81160" y="896112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896112"/>
            <a:ext cx="20116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72600" y="932688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(PLA)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1307592"/>
            <a:ext cx="1920240" cy="914400"/>
          </a:xfrm>
          <a:prstGeom prst="rect">
            <a:avLst/>
          </a:prstGeom>
          <a:solidFill>
            <a:srgbClr val="E7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18320" y="2313432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PLA (Thermoformed)</a:t>
            </a:r>
            <a:br/>
            <a:r>
              <a:t>• Capacity: 650 mL</a:t>
            </a:r>
            <a:br/>
            <a:r>
              <a:t>• Color: Natural / Beige</a:t>
            </a:r>
            <a:br/>
            <a:r>
              <a:t>• Lightweight &amp; compostable</a:t>
            </a:r>
            <a:br/>
            <a:r>
              <a:t>• Suitable up to ~55°C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061704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" y="3410712"/>
            <a:ext cx="11978640" cy="18288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" y="35204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PROCESS 2: BIODEGRADABLE PPE – INJECTION MOULDING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8600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8600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01752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PPE GRANULATE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Biodegradable PPE</a:t>
            </a:r>
            <a:br/>
            <a:r>
              <a:t>pellets used as</a:t>
            </a:r>
            <a:br/>
            <a:r>
              <a:t>raw material.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6888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801368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9112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39112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112264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59152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INJECTION MOULDING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76272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Pellets are melted and</a:t>
            </a:r>
            <a:br/>
            <a:r>
              <a:t>injected into mould</a:t>
            </a:r>
            <a:br/>
            <a:r>
              <a:t>cavity under pressure.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3611879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849624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49624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922776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69663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COOLING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4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Mould is cooled to</a:t>
            </a:r>
            <a:br/>
            <a:r>
              <a:t>solidify the container</a:t>
            </a:r>
            <a:br/>
            <a:r>
              <a:t>shape.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67911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59352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5422392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660136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0136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733288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80175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EJECTION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97296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 is ejected</a:t>
            </a:r>
            <a:br/>
            <a:r>
              <a:t>from the mould.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78423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69864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232903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70648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470648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543800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0688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07808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inspected,</a:t>
            </a:r>
            <a:br/>
            <a:r>
              <a:t>stacked and packed</a:t>
            </a:r>
            <a:br/>
            <a:r>
              <a:t>for distribution.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488936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0375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281160" y="3767328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281160" y="3767328"/>
            <a:ext cx="20116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72600" y="3803904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(PPE)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6880" y="4178808"/>
            <a:ext cx="1920240" cy="9144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20" y="5184648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Biodegradable PPE</a:t>
            </a:r>
            <a:br/>
            <a:r>
              <a:t>• Capacity: 650 mL</a:t>
            </a:r>
            <a:br/>
            <a:r>
              <a:t>• Color: Natural / White</a:t>
            </a:r>
            <a:br/>
            <a:r>
              <a:t>• Heat resistance up to 100°C</a:t>
            </a:r>
            <a:br/>
            <a:r>
              <a:t>• Durable &amp; food safe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9061704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28600" y="6272784"/>
            <a:ext cx="11750040" cy="512064"/>
          </a:xfrm>
          <a:prstGeom prst="roundRect">
            <a:avLst/>
          </a:prstGeom>
          <a:solidFill>
            <a:srgbClr val="F8F9FB"/>
          </a:solidFill>
          <a:ln>
            <a:solidFill>
              <a:srgbClr val="B2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43400" y="6309360"/>
            <a:ext cx="3474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80" b="1">
                <a:solidFill>
                  <a:srgbClr val="1F293A"/>
                </a:solidFill>
              </a:defRPr>
            </a:pPr>
            <a:r>
              <a:t>PROCESS COMPARISON SUMMARY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TECHNOLOGY</a:t>
            </a:r>
            <a:br/>
            <a:r>
              <a:t>PLA: Thermoforming</a:t>
            </a:r>
            <a:br/>
            <a:r>
              <a:t>PPE: Injection Moulding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04872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CYCLE TIME (APPROX.)</a:t>
            </a:r>
            <a:br/>
            <a:r>
              <a:t>PLA: 6–8 sec</a:t>
            </a:r>
            <a:br/>
            <a:r>
              <a:t>PPE: 4–6 sec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06824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SCRAP RATE</a:t>
            </a:r>
            <a:br/>
            <a:r>
              <a:t>PLA: ~12%</a:t>
            </a:r>
            <a:br/>
            <a:r>
              <a:t>PPE: ~4%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08776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HEAT RESISTANCE</a:t>
            </a:r>
            <a:br/>
            <a:r>
              <a:t>PLA: ~55°C</a:t>
            </a:r>
            <a:br/>
            <a:r>
              <a:t>PPE: up to 100°C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10728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END-OF-LIFE</a:t>
            </a:r>
            <a:br/>
            <a:r>
              <a:t>PLA: Industrial compostable</a:t>
            </a:r>
            <a:br/>
            <a:r>
              <a:t>PPE: Limited compostability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1268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APPLICATION</a:t>
            </a:r>
            <a:br/>
            <a:r>
              <a:t>Both suitable for takeaway</a:t>
            </a:r>
            <a:br/>
            <a:r>
              <a:t>food packaging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521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COST &amp; ENVIRONMENTAL COMPARISON CHARTS (PLA vs BIODEGRADABLE PPE)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914400"/>
          <a:ext cx="56692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0" y="914400"/>
          <a:ext cx="53035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4048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Sensitivity Snapshot (Editable Diagram)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5196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Material price (±20%)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270248"/>
            <a:ext cx="1810512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more sensitive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4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Energy price (±30%)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4690872"/>
            <a:ext cx="1709928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672584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more sensitive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93208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5111496"/>
            <a:ext cx="1247241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509320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penalty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13832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End-of-life 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5532120"/>
            <a:ext cx="1408176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5513832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depends on composting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93445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Production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952744"/>
            <a:ext cx="1106424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934456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gains at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840480"/>
            <a:ext cx="5303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AAB4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023360"/>
            <a:ext cx="48463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02020"/>
                </a:solidFill>
              </a:defRPr>
            </a:pPr>
            <a:r>
              <a:t>Key Takeaways</a:t>
            </a:r>
            <a:br/>
            <a:r>
              <a:t>• PPE is economically superior (Total LCC: €54.4 vs €66.3).</a:t>
            </a:r>
            <a:br/>
            <a:r>
              <a:t>• PLA performs better in GWP and energy demand.</a:t>
            </a:r>
            <a:br/>
            <a:r>
              <a:t>• PPE performs better in water use and heat resistance.</a:t>
            </a:r>
            <a:br/>
            <a:r>
              <a:t>• Final choice depends on temperature requirements,</a:t>
            </a:r>
            <a:br/>
            <a:r>
              <a:t>  composting infrastructure, and cost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8477A"/>
                </a:solidFill>
              </a:rPr>
              <a:t>WHY WE ARE USING PPE INSTEAD OF PLA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3C3C3C"/>
                </a:solidFill>
              </a:rPr>
              <a:t>Comparison for takeaway food containers (editable table)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00200"/>
          <a:ext cx="1133856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2926080"/>
                <a:gridCol w="3200400"/>
              </a:tblGrid>
              <a:tr h="4927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Criteria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PLA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PPE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Why PPE is preferred here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Heat resistance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~55°C (softens at higher temperature)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Up to ~100°C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 meals and transport.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Manufacturing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Thermoforming sheet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Injection moulding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More robust, repeatable parts at scale.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Strength &amp; rigidity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impact strength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toughness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Reduces cracks/leaks during handling.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Unit cost (high volume)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Material often higher cost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overall LCC in this study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Improves profitability at mass production.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Cycle time/tooling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Stable but design-limited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Fast cycles after tooling setup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throughput for large demand.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Food service usage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Good for mild-temperature food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hot/oily food service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Wider usage range in takeaway market.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Composting profile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Industrial composting friendly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Limited compostability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selected due to performance/cost trade-off.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Final decision for this project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Environment-focused baseline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Selected option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chosen for heat, durability, and lower cost.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5A5A"/>
                </a:solidFill>
              </a:rPr>
              <a:t>Note: PPE is selected for this case-study objective (hot-food performance + cost). PLA remains stronger on industrial compostability.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